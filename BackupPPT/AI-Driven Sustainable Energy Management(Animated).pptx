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Old Standard TT"/>
      <p:regular r:id="rId20"/>
      <p:bold r:id="rId21"/>
      <p: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ldStandardTT-regular.fntdata"/><Relationship Id="rId11" Type="http://schemas.openxmlformats.org/officeDocument/2006/relationships/slide" Target="slides/slide6.xml"/><Relationship Id="rId22" Type="http://schemas.openxmlformats.org/officeDocument/2006/relationships/font" Target="fonts/OldStandardTT-italic.fntdata"/><Relationship Id="rId10" Type="http://schemas.openxmlformats.org/officeDocument/2006/relationships/slide" Target="slides/slide5.xml"/><Relationship Id="rId21" Type="http://schemas.openxmlformats.org/officeDocument/2006/relationships/font" Target="fonts/OldStandardT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6f90357f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6f90357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ec608dc3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ec608dc3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ec608dc3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ec608dc3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3ec608dc38_0_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3ec608dc3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ec608dc38_0_9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3ec608dc38_0_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ec608dc38_0_1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ec608dc38_0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ec608dc38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3ec608dc38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ec608dc38_0_109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3ec608dc38_0_1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ec608dc38_0_1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3ec608dc38_0_1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3ec608dc38_0_1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3ec608dc38_0_1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3ec608dc38_0_1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3ec608dc38_0_1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3ec608dc38_0_10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3ec608dc38_0_1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204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AI-Driven Sustainable Energy Management: Forecasting, Optimization, and Commercial Viability of Solar Energy Systems</a:t>
            </a:r>
            <a:endParaRPr sz="32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1892025"/>
            <a:ext cx="8118600" cy="22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Team Members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J.Abinesh 952521104001 - IV CSE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T.Selvin 952521104046 - IV CSE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S.Siva 952521104047 - IV CSE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P.Srinidas 952521104050 - IV CSE</a:t>
            </a:r>
            <a:endParaRPr sz="1900"/>
          </a:p>
        </p:txBody>
      </p:sp>
      <p:sp>
        <p:nvSpPr>
          <p:cNvPr id="61" name="Google Shape;61;p13"/>
          <p:cNvSpPr txBox="1"/>
          <p:nvPr/>
        </p:nvSpPr>
        <p:spPr>
          <a:xfrm>
            <a:off x="567600" y="3763025"/>
            <a:ext cx="8063700" cy="107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GUIDED BY</a:t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  <p:transition spd="med">
    <p:push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12267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735875"/>
            <a:ext cx="8520600" cy="40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AI-Driven Sustainable Energy Management</a:t>
            </a:r>
            <a:endParaRPr b="1"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The increasing dependence on </a:t>
            </a:r>
            <a:r>
              <a:rPr b="1" lang="en" sz="1600"/>
              <a:t>solar energy</a:t>
            </a:r>
            <a:r>
              <a:rPr lang="en" sz="1600"/>
              <a:t> requires </a:t>
            </a:r>
            <a:r>
              <a:rPr b="1" lang="en" sz="1600"/>
              <a:t>intelligent management</a:t>
            </a:r>
            <a:r>
              <a:rPr lang="en" sz="1600"/>
              <a:t> to handle its variability and enhance efficiency.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This project leverages </a:t>
            </a:r>
            <a:r>
              <a:rPr b="1" lang="en" sz="1600"/>
              <a:t>supervised learning algorithms</a:t>
            </a:r>
            <a:r>
              <a:rPr lang="en" sz="1600"/>
              <a:t> to: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b="1" lang="en" sz="1600"/>
              <a:t>Analyze</a:t>
            </a:r>
            <a:r>
              <a:rPr lang="en" sz="1600"/>
              <a:t> solar power production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b="1" lang="en" sz="1600"/>
              <a:t>Optimize</a:t>
            </a:r>
            <a:r>
              <a:rPr lang="en" sz="1600"/>
              <a:t> energy storage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b="1" lang="en" sz="1600"/>
              <a:t>Predict</a:t>
            </a:r>
            <a:r>
              <a:rPr lang="en" sz="1600"/>
              <a:t> inverter failures to minimize downtime and costs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AI-driven forecasting enhances electricity production predictions, improving </a:t>
            </a:r>
            <a:r>
              <a:rPr b="1" lang="en" sz="1600"/>
              <a:t>grid integration</a:t>
            </a:r>
            <a:r>
              <a:rPr lang="en" sz="1600"/>
              <a:t> and </a:t>
            </a:r>
            <a:r>
              <a:rPr b="1" lang="en" sz="1600"/>
              <a:t>commercial viability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By applying </a:t>
            </a:r>
            <a:r>
              <a:rPr b="1" lang="en" sz="1600"/>
              <a:t>machine learning</a:t>
            </a:r>
            <a:r>
              <a:rPr lang="en" sz="1600"/>
              <a:t>, the system ensures: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Old Standard TT"/>
              <a:buChar char="○"/>
            </a:pPr>
            <a:r>
              <a:rPr b="1" lang="en" sz="1600"/>
              <a:t>Stable power distribution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Old Standard TT"/>
              <a:buChar char="○"/>
            </a:pPr>
            <a:r>
              <a:rPr b="1" lang="en" sz="1600"/>
              <a:t>Improved efficiency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Old Standard TT"/>
              <a:buChar char="○"/>
            </a:pPr>
            <a:r>
              <a:rPr b="1" lang="en" sz="1600"/>
              <a:t>Economic viability of renewable energy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87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Domain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75115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/>
              <a:t>Domain: Artificial Intelligence &amp; Machine Learning in Renewable Energy</a:t>
            </a:r>
            <a:endParaRPr b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1700"/>
              <a:t>This project falls under the domain of </a:t>
            </a:r>
            <a:r>
              <a:rPr b="1" lang="en" sz="1700"/>
              <a:t>Artificial Intelligence (AI) and Machine Learning (ML)</a:t>
            </a:r>
            <a:r>
              <a:rPr lang="en" sz="1700"/>
              <a:t> with applications in </a:t>
            </a:r>
            <a:r>
              <a:rPr b="1" lang="en" sz="1700"/>
              <a:t>Renewable Energy Management</a:t>
            </a:r>
            <a:r>
              <a:rPr lang="en" sz="1700"/>
              <a:t>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/>
              <a:t>AI and ML are used to: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1" lang="en" sz="1700"/>
              <a:t>Analyze</a:t>
            </a:r>
            <a:r>
              <a:rPr lang="en" sz="1700"/>
              <a:t> solar power production patterns.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1" lang="en" sz="1700"/>
              <a:t>Optimize</a:t>
            </a:r>
            <a:r>
              <a:rPr lang="en" sz="1700"/>
              <a:t> energy storage and distribution.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1" lang="en" sz="1700"/>
              <a:t>Predict</a:t>
            </a:r>
            <a:r>
              <a:rPr lang="en" sz="1700"/>
              <a:t> inverter failures, reducing downtime and maintenance costs.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1" lang="en" sz="1700"/>
              <a:t>Enhance</a:t>
            </a:r>
            <a:r>
              <a:rPr lang="en" sz="1700"/>
              <a:t> electricity production forecasting for better grid integration.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1700"/>
              <a:t>By applying </a:t>
            </a:r>
            <a:r>
              <a:rPr b="1" lang="en" sz="1700"/>
              <a:t>AI-driven solutions</a:t>
            </a:r>
            <a:r>
              <a:rPr lang="en" sz="1700"/>
              <a:t>, the project ensures a more </a:t>
            </a:r>
            <a:r>
              <a:rPr b="1" lang="en" sz="1700"/>
              <a:t>efficient, reliable, and economically viable</a:t>
            </a:r>
            <a:r>
              <a:rPr lang="en" sz="1700"/>
              <a:t> solar energy system.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🔹 </a:t>
            </a:r>
            <a:r>
              <a:rPr i="1" lang="en" sz="1700"/>
              <a:t>Technologies Used:</a:t>
            </a:r>
            <a:r>
              <a:rPr lang="en" sz="1700"/>
              <a:t> Machine Learning, Supervised Learning Algorithms, AI-Based Forecasting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87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to Solving the Problem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751150"/>
            <a:ext cx="8520600" cy="42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AI-Driven Approach for Solar Energy Management</a:t>
            </a:r>
            <a:endParaRPr b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Old Standard TT"/>
              <a:buChar char="●"/>
            </a:pPr>
            <a:r>
              <a:rPr b="1" lang="en" sz="1700"/>
              <a:t>Data Collection &amp; Preprocessing</a:t>
            </a:r>
            <a:endParaRPr b="1"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Old Standard TT"/>
              <a:buChar char="○"/>
            </a:pPr>
            <a:r>
              <a:rPr lang="en" sz="1700"/>
              <a:t>Gather solar power production &amp; inverter performance data.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Old Standard TT"/>
              <a:buChar char="○"/>
            </a:pPr>
            <a:r>
              <a:rPr lang="en" sz="1700"/>
              <a:t>Clean &amp; normalize data for ML model training.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Old Standard TT"/>
              <a:buChar char="●"/>
            </a:pPr>
            <a:r>
              <a:rPr b="1" lang="en" sz="1700"/>
              <a:t>Machine Learning Models for Prediction</a:t>
            </a:r>
            <a:endParaRPr b="1"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b="1" lang="en" sz="1700"/>
              <a:t>LSTM Model</a:t>
            </a:r>
            <a:r>
              <a:rPr lang="en" sz="1700"/>
              <a:t> → Forecasts future solar power generation.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b="1" lang="en" sz="1700"/>
              <a:t>Random Forest Classifier</a:t>
            </a:r>
            <a:r>
              <a:rPr lang="en" sz="1700"/>
              <a:t> → Predicts inverter failures.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Old Standard TT"/>
              <a:buChar char="●"/>
            </a:pPr>
            <a:r>
              <a:rPr b="1" lang="en" sz="1700"/>
              <a:t>Optimization &amp; AI-Based Decision Making</a:t>
            </a:r>
            <a:endParaRPr b="1"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/>
              <a:t>AI optimizes </a:t>
            </a:r>
            <a:r>
              <a:rPr b="1" lang="en" sz="1700"/>
              <a:t>energy storage &amp; power distribution</a:t>
            </a:r>
            <a:r>
              <a:rPr lang="en" sz="1700"/>
              <a:t>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Old Standard TT"/>
              <a:buChar char="○"/>
            </a:pPr>
            <a:r>
              <a:rPr lang="en" sz="1700"/>
              <a:t>Reduces downtime &amp; improves grid integration.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Old Standard TT"/>
              <a:buChar char="●"/>
            </a:pPr>
            <a:r>
              <a:rPr b="1" lang="en" sz="1700"/>
              <a:t>Real-Time Deployment &amp; Continuous Learning</a:t>
            </a:r>
            <a:endParaRPr b="1"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/>
              <a:t>Live monitoring with feedback loops for </a:t>
            </a:r>
            <a:r>
              <a:rPr b="1" lang="en" sz="1700"/>
              <a:t>continuous improvement</a:t>
            </a:r>
            <a:r>
              <a:rPr lang="en" sz="1700"/>
              <a:t>.</a:t>
            </a:r>
            <a:endParaRPr b="1" sz="2300"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/>
          <p:nvPr/>
        </p:nvSpPr>
        <p:spPr>
          <a:xfrm>
            <a:off x="340934" y="2199000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4294967295" type="body"/>
          </p:nvPr>
        </p:nvSpPr>
        <p:spPr>
          <a:xfrm>
            <a:off x="340923" y="2336550"/>
            <a:ext cx="1455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Data Collection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91" name="Google Shape;91;p18"/>
          <p:cNvGrpSpPr/>
          <p:nvPr/>
        </p:nvGrpSpPr>
        <p:grpSpPr>
          <a:xfrm>
            <a:off x="912820" y="1610215"/>
            <a:ext cx="198900" cy="593656"/>
            <a:chOff x="777447" y="1610215"/>
            <a:chExt cx="198900" cy="593656"/>
          </a:xfrm>
        </p:grpSpPr>
        <p:cxnSp>
          <p:nvCxnSpPr>
            <p:cNvPr id="92" name="Google Shape;92;p18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3" name="Google Shape;93;p18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18"/>
          <p:cNvSpPr txBox="1"/>
          <p:nvPr>
            <p:ph idx="4294967295" type="body"/>
          </p:nvPr>
        </p:nvSpPr>
        <p:spPr>
          <a:xfrm>
            <a:off x="318375" y="374700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Gather solar power production and inverter performance data.</a:t>
            </a:r>
            <a:endParaRPr sz="1600"/>
          </a:p>
        </p:txBody>
      </p:sp>
      <p:sp>
        <p:nvSpPr>
          <p:cNvPr id="95" name="Google Shape;95;p18"/>
          <p:cNvSpPr/>
          <p:nvPr/>
        </p:nvSpPr>
        <p:spPr>
          <a:xfrm>
            <a:off x="1817054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idx="4294967295" type="body"/>
          </p:nvPr>
        </p:nvSpPr>
        <p:spPr>
          <a:xfrm>
            <a:off x="2025950" y="2336550"/>
            <a:ext cx="17418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Data Preprocessing</a:t>
            </a:r>
            <a:endParaRPr sz="1500">
              <a:solidFill>
                <a:schemeClr val="lt1"/>
              </a:solidFill>
            </a:endParaRPr>
          </a:p>
        </p:txBody>
      </p:sp>
      <p:grpSp>
        <p:nvGrpSpPr>
          <p:cNvPr id="97" name="Google Shape;97;p18"/>
          <p:cNvGrpSpPr/>
          <p:nvPr/>
        </p:nvGrpSpPr>
        <p:grpSpPr>
          <a:xfrm>
            <a:off x="2266282" y="2938958"/>
            <a:ext cx="198900" cy="593656"/>
            <a:chOff x="2223534" y="2938958"/>
            <a:chExt cx="198900" cy="593656"/>
          </a:xfrm>
        </p:grpSpPr>
        <p:cxnSp>
          <p:nvCxnSpPr>
            <p:cNvPr id="98" name="Google Shape;98;p18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9" name="Google Shape;99;p18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18"/>
          <p:cNvSpPr txBox="1"/>
          <p:nvPr>
            <p:ph idx="4294967295" type="body"/>
          </p:nvPr>
        </p:nvSpPr>
        <p:spPr>
          <a:xfrm>
            <a:off x="1244337" y="37577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Clean and transform data for machine learning models.</a:t>
            </a:r>
            <a:endParaRPr sz="1600"/>
          </a:p>
        </p:txBody>
      </p:sp>
      <p:sp>
        <p:nvSpPr>
          <p:cNvPr id="101" name="Google Shape;101;p18"/>
          <p:cNvSpPr/>
          <p:nvPr/>
        </p:nvSpPr>
        <p:spPr>
          <a:xfrm>
            <a:off x="347197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4294967295" type="body"/>
          </p:nvPr>
        </p:nvSpPr>
        <p:spPr>
          <a:xfrm>
            <a:off x="3767755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Model Selection &amp; Training</a:t>
            </a:r>
            <a:endParaRPr sz="1500">
              <a:solidFill>
                <a:schemeClr val="lt1"/>
              </a:solidFill>
            </a:endParaRPr>
          </a:p>
        </p:txBody>
      </p:sp>
      <p:grpSp>
        <p:nvGrpSpPr>
          <p:cNvPr id="103" name="Google Shape;103;p18"/>
          <p:cNvGrpSpPr/>
          <p:nvPr/>
        </p:nvGrpSpPr>
        <p:grpSpPr>
          <a:xfrm>
            <a:off x="4058732" y="1610215"/>
            <a:ext cx="198900" cy="593656"/>
            <a:chOff x="3918084" y="1610215"/>
            <a:chExt cx="198900" cy="593656"/>
          </a:xfrm>
        </p:grpSpPr>
        <p:cxnSp>
          <p:nvCxnSpPr>
            <p:cNvPr id="104" name="Google Shape;104;p18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5" name="Google Shape;105;p18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18"/>
          <p:cNvSpPr txBox="1"/>
          <p:nvPr>
            <p:ph idx="4294967295" type="body"/>
          </p:nvPr>
        </p:nvSpPr>
        <p:spPr>
          <a:xfrm>
            <a:off x="3304094" y="146500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LSTM Model for solar power prediction. Random Forest Classifier for inverter failure detection.</a:t>
            </a:r>
            <a:endParaRPr sz="1600"/>
          </a:p>
        </p:txBody>
      </p:sp>
      <p:sp>
        <p:nvSpPr>
          <p:cNvPr id="107" name="Google Shape;107;p18"/>
          <p:cNvSpPr/>
          <p:nvPr/>
        </p:nvSpPr>
        <p:spPr>
          <a:xfrm>
            <a:off x="512689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 txBox="1"/>
          <p:nvPr>
            <p:ph idx="4294967295" type="body"/>
          </p:nvPr>
        </p:nvSpPr>
        <p:spPr>
          <a:xfrm>
            <a:off x="5416699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Model Evaluation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09" name="Google Shape;109;p18"/>
          <p:cNvGrpSpPr/>
          <p:nvPr/>
        </p:nvGrpSpPr>
        <p:grpSpPr>
          <a:xfrm>
            <a:off x="5973070" y="2938958"/>
            <a:ext cx="198900" cy="593656"/>
            <a:chOff x="5958946" y="2938958"/>
            <a:chExt cx="198900" cy="593656"/>
          </a:xfrm>
        </p:grpSpPr>
        <p:cxnSp>
          <p:nvCxnSpPr>
            <p:cNvPr id="110" name="Google Shape;110;p18"/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1" name="Google Shape;111;p18"/>
            <p:cNvSpPr/>
            <p:nvPr/>
          </p:nvSpPr>
          <p:spPr>
            <a:xfrm flipH="1" rot="10800000">
              <a:off x="5958946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18"/>
          <p:cNvSpPr txBox="1"/>
          <p:nvPr>
            <p:ph idx="4294967295" type="body"/>
          </p:nvPr>
        </p:nvSpPr>
        <p:spPr>
          <a:xfrm>
            <a:off x="5126902" y="37577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Assess accuracy and fine-tune hyperparameters.</a:t>
            </a:r>
            <a:endParaRPr sz="1600"/>
          </a:p>
        </p:txBody>
      </p:sp>
      <p:sp>
        <p:nvSpPr>
          <p:cNvPr id="113" name="Google Shape;113;p18"/>
          <p:cNvSpPr/>
          <p:nvPr/>
        </p:nvSpPr>
        <p:spPr>
          <a:xfrm>
            <a:off x="678181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 txBox="1"/>
          <p:nvPr>
            <p:ph idx="4294967295" type="body"/>
          </p:nvPr>
        </p:nvSpPr>
        <p:spPr>
          <a:xfrm>
            <a:off x="7111512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Deployment</a:t>
            </a:r>
            <a:endParaRPr sz="1400">
              <a:solidFill>
                <a:schemeClr val="lt1"/>
              </a:solidFill>
            </a:endParaRPr>
          </a:p>
        </p:txBody>
      </p:sp>
      <p:grpSp>
        <p:nvGrpSpPr>
          <p:cNvPr id="115" name="Google Shape;115;p18"/>
          <p:cNvGrpSpPr/>
          <p:nvPr/>
        </p:nvGrpSpPr>
        <p:grpSpPr>
          <a:xfrm>
            <a:off x="7669807" y="1610215"/>
            <a:ext cx="198900" cy="593656"/>
            <a:chOff x="3918084" y="1610215"/>
            <a:chExt cx="198900" cy="593656"/>
          </a:xfrm>
        </p:grpSpPr>
        <p:cxnSp>
          <p:nvCxnSpPr>
            <p:cNvPr id="116" name="Google Shape;116;p18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" name="Google Shape;117;p18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" name="Google Shape;118;p18"/>
          <p:cNvSpPr txBox="1"/>
          <p:nvPr>
            <p:ph idx="4294967295" type="body"/>
          </p:nvPr>
        </p:nvSpPr>
        <p:spPr>
          <a:xfrm>
            <a:off x="6685979" y="374700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Implement real-time AI predictions to optimize energy management.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117000" y="1145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 Diagram</a:t>
            </a:r>
            <a:endParaRPr/>
          </a:p>
        </p:txBody>
      </p:sp>
      <p:cxnSp>
        <p:nvCxnSpPr>
          <p:cNvPr id="124" name="Google Shape;124;p19"/>
          <p:cNvCxnSpPr/>
          <p:nvPr/>
        </p:nvCxnSpPr>
        <p:spPr>
          <a:xfrm>
            <a:off x="420075" y="2790116"/>
            <a:ext cx="8336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125" name="Google Shape;125;p19"/>
          <p:cNvGrpSpPr/>
          <p:nvPr/>
        </p:nvGrpSpPr>
        <p:grpSpPr>
          <a:xfrm>
            <a:off x="648675" y="1581271"/>
            <a:ext cx="196200" cy="1306800"/>
            <a:chOff x="648675" y="1657471"/>
            <a:chExt cx="196200" cy="1306800"/>
          </a:xfrm>
        </p:grpSpPr>
        <p:sp>
          <p:nvSpPr>
            <p:cNvPr id="126" name="Google Shape;126;p19"/>
            <p:cNvSpPr/>
            <p:nvPr/>
          </p:nvSpPr>
          <p:spPr>
            <a:xfrm>
              <a:off x="648675" y="2768371"/>
              <a:ext cx="196200" cy="19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7" name="Google Shape;127;p19"/>
            <p:cNvCxnSpPr>
              <a:stCxn id="126" idx="0"/>
            </p:cNvCxnSpPr>
            <p:nvPr/>
          </p:nvCxnSpPr>
          <p:spPr>
            <a:xfrm rot="10800000">
              <a:off x="746775" y="1657471"/>
              <a:ext cx="0" cy="11109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sp>
        <p:nvSpPr>
          <p:cNvPr id="128" name="Google Shape;128;p19"/>
          <p:cNvSpPr txBox="1"/>
          <p:nvPr>
            <p:ph idx="4294967295" type="body"/>
          </p:nvPr>
        </p:nvSpPr>
        <p:spPr>
          <a:xfrm>
            <a:off x="844875" y="1225675"/>
            <a:ext cx="2662200" cy="10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Data Collection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Gather solar power, inverter performance, and weather data.</a:t>
            </a:r>
            <a:endParaRPr sz="1400"/>
          </a:p>
        </p:txBody>
      </p:sp>
      <p:grpSp>
        <p:nvGrpSpPr>
          <p:cNvPr id="129" name="Google Shape;129;p19"/>
          <p:cNvGrpSpPr/>
          <p:nvPr/>
        </p:nvGrpSpPr>
        <p:grpSpPr>
          <a:xfrm>
            <a:off x="2512925" y="2692171"/>
            <a:ext cx="196200" cy="1404905"/>
            <a:chOff x="2512925" y="2768371"/>
            <a:chExt cx="196200" cy="1404905"/>
          </a:xfrm>
        </p:grpSpPr>
        <p:cxnSp>
          <p:nvCxnSpPr>
            <p:cNvPr id="130" name="Google Shape;130;p19"/>
            <p:cNvCxnSpPr/>
            <p:nvPr/>
          </p:nvCxnSpPr>
          <p:spPr>
            <a:xfrm>
              <a:off x="2611025" y="2964276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31" name="Google Shape;131;p19"/>
            <p:cNvSpPr/>
            <p:nvPr/>
          </p:nvSpPr>
          <p:spPr>
            <a:xfrm>
              <a:off x="2512925" y="2768371"/>
              <a:ext cx="196200" cy="19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9"/>
          <p:cNvSpPr txBox="1"/>
          <p:nvPr>
            <p:ph idx="4294967295" type="body"/>
          </p:nvPr>
        </p:nvSpPr>
        <p:spPr>
          <a:xfrm>
            <a:off x="2709125" y="3633325"/>
            <a:ext cx="2662200" cy="25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Data Preprocessing &amp; Feature Engineering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Clean, normalize, and extract relevant features.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grpSp>
        <p:nvGrpSpPr>
          <p:cNvPr id="133" name="Google Shape;133;p19"/>
          <p:cNvGrpSpPr/>
          <p:nvPr/>
        </p:nvGrpSpPr>
        <p:grpSpPr>
          <a:xfrm>
            <a:off x="4279200" y="1483171"/>
            <a:ext cx="196200" cy="1404900"/>
            <a:chOff x="4279200" y="1559371"/>
            <a:chExt cx="196200" cy="1404900"/>
          </a:xfrm>
        </p:grpSpPr>
        <p:cxnSp>
          <p:nvCxnSpPr>
            <p:cNvPr id="134" name="Google Shape;134;p19"/>
            <p:cNvCxnSpPr>
              <a:stCxn id="135" idx="0"/>
            </p:cNvCxnSpPr>
            <p:nvPr/>
          </p:nvCxnSpPr>
          <p:spPr>
            <a:xfrm rot="10800000">
              <a:off x="4377300" y="1559371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35" name="Google Shape;135;p19"/>
            <p:cNvSpPr/>
            <p:nvPr/>
          </p:nvSpPr>
          <p:spPr>
            <a:xfrm>
              <a:off x="4279200" y="2768371"/>
              <a:ext cx="196200" cy="19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19"/>
          <p:cNvSpPr txBox="1"/>
          <p:nvPr>
            <p:ph idx="4294967295" type="body"/>
          </p:nvPr>
        </p:nvSpPr>
        <p:spPr>
          <a:xfrm>
            <a:off x="4572000" y="1225675"/>
            <a:ext cx="2662200" cy="13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Machine Learning Model Execution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Use LSTM for power forecasting and Random Forest for inverter failure detection.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37" name="Google Shape;137;p19"/>
          <p:cNvGrpSpPr/>
          <p:nvPr/>
        </p:nvGrpSpPr>
        <p:grpSpPr>
          <a:xfrm>
            <a:off x="6045475" y="2692171"/>
            <a:ext cx="196200" cy="1404905"/>
            <a:chOff x="6045475" y="2768371"/>
            <a:chExt cx="196200" cy="1404905"/>
          </a:xfrm>
        </p:grpSpPr>
        <p:cxnSp>
          <p:nvCxnSpPr>
            <p:cNvPr id="138" name="Google Shape;138;p19"/>
            <p:cNvCxnSpPr/>
            <p:nvPr/>
          </p:nvCxnSpPr>
          <p:spPr>
            <a:xfrm>
              <a:off x="6143575" y="2964276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39" name="Google Shape;139;p19"/>
            <p:cNvSpPr/>
            <p:nvPr/>
          </p:nvSpPr>
          <p:spPr>
            <a:xfrm>
              <a:off x="6045475" y="2768371"/>
              <a:ext cx="196200" cy="19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19"/>
          <p:cNvSpPr txBox="1"/>
          <p:nvPr>
            <p:ph idx="4294967295" type="body"/>
          </p:nvPr>
        </p:nvSpPr>
        <p:spPr>
          <a:xfrm>
            <a:off x="6241670" y="3633325"/>
            <a:ext cx="2662200" cy="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AI-Based Optimization &amp; Decision Making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Optimize energy distribution, reduce downtime, and improve grid integration.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type="title"/>
          </p:nvPr>
        </p:nvSpPr>
        <p:spPr>
          <a:xfrm>
            <a:off x="311700" y="87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  <p:sp>
        <p:nvSpPr>
          <p:cNvPr id="146" name="Google Shape;146;p20"/>
          <p:cNvSpPr txBox="1"/>
          <p:nvPr>
            <p:ph idx="1" type="body"/>
          </p:nvPr>
        </p:nvSpPr>
        <p:spPr>
          <a:xfrm>
            <a:off x="311700" y="751150"/>
            <a:ext cx="8520600" cy="44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Technologies &amp; Tools Used</a:t>
            </a:r>
            <a:endParaRPr b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Python</a:t>
            </a:r>
            <a:r>
              <a:rPr lang="en" sz="1700"/>
              <a:t> – Core programming language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TensorFlow &amp; PyTorch</a:t>
            </a:r>
            <a:r>
              <a:rPr lang="en" sz="1700"/>
              <a:t> – Deep learning model training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Scikit-Learn</a:t>
            </a:r>
            <a:r>
              <a:rPr lang="en" sz="1700"/>
              <a:t> – ML model implementation &amp; evaluation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Pandas &amp; NumPy</a:t>
            </a:r>
            <a:r>
              <a:rPr lang="en" sz="1700"/>
              <a:t> – Data preprocessing &amp; analysis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Streamlit</a:t>
            </a:r>
            <a:r>
              <a:rPr lang="en" sz="1700"/>
              <a:t> – Web-based visualization &amp; real-time monitoring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Models Implemented</a:t>
            </a:r>
            <a:endParaRPr b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LSTM/GRU</a:t>
            </a:r>
            <a:r>
              <a:rPr lang="en" sz="1700"/>
              <a:t> – Solar power forecasting (time-series prediction)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XGBoost/Random Forest</a:t>
            </a:r>
            <a:r>
              <a:rPr lang="en" sz="1700"/>
              <a:t> – Inverter failure detection (classification)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CNN/LSTM Hybrid</a:t>
            </a:r>
            <a:r>
              <a:rPr lang="en" sz="1700"/>
              <a:t> – Feature extraction &amp; advanced time-series modeling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311700" y="87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&amp; Analysis</a:t>
            </a:r>
            <a:endParaRPr/>
          </a:p>
        </p:txBody>
      </p:sp>
      <p:sp>
        <p:nvSpPr>
          <p:cNvPr id="152" name="Google Shape;152;p21"/>
          <p:cNvSpPr txBox="1"/>
          <p:nvPr>
            <p:ph idx="1" type="body"/>
          </p:nvPr>
        </p:nvSpPr>
        <p:spPr>
          <a:xfrm>
            <a:off x="311700" y="751150"/>
            <a:ext cx="8520600" cy="44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/>
              <a:t>Model Performance &amp; Accuracy</a:t>
            </a:r>
            <a:endParaRPr b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LSTM/GRU:</a:t>
            </a:r>
            <a:r>
              <a:rPr lang="en" sz="1700"/>
              <a:t> Achieved </a:t>
            </a:r>
            <a:r>
              <a:rPr b="1" lang="en" sz="1700"/>
              <a:t>high accuracy</a:t>
            </a:r>
            <a:r>
              <a:rPr lang="en" sz="1700"/>
              <a:t> in solar power forecasting with minimal error.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XGBoost/Random Forest:</a:t>
            </a:r>
            <a:r>
              <a:rPr lang="en" sz="1700"/>
              <a:t> Effectively detected inverter failures with </a:t>
            </a:r>
            <a:r>
              <a:rPr b="1" lang="en" sz="1700"/>
              <a:t>high precision &amp; recall</a:t>
            </a:r>
            <a:r>
              <a:rPr lang="en" sz="1700"/>
              <a:t>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CNN/LSTM Hybrid:</a:t>
            </a:r>
            <a:r>
              <a:rPr lang="en" sz="1700"/>
              <a:t> Improved feature extraction for time-series modeling.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 </a:t>
            </a:r>
            <a:r>
              <a:rPr b="1" lang="en" sz="1700"/>
              <a:t>Key Findings</a:t>
            </a:r>
            <a:br>
              <a:rPr b="1" lang="en" sz="1700"/>
            </a:br>
            <a:r>
              <a:rPr lang="en" sz="1700"/>
              <a:t> 	AI-based forecasting </a:t>
            </a:r>
            <a:r>
              <a:rPr b="1" lang="en" sz="1700"/>
              <a:t>reduced energy wastage</a:t>
            </a:r>
            <a:r>
              <a:rPr lang="en" sz="1700"/>
              <a:t> by optimizing power distribution.</a:t>
            </a:r>
            <a:br>
              <a:rPr lang="en" sz="1700"/>
            </a:br>
            <a:r>
              <a:rPr lang="en" sz="1700"/>
              <a:t> 	Inverter failure prediction helped </a:t>
            </a:r>
            <a:r>
              <a:rPr b="1" lang="en" sz="1700"/>
              <a:t>minimize downtime &amp; maintenance costs</a:t>
            </a:r>
            <a:r>
              <a:rPr lang="en" sz="1700"/>
              <a:t>.</a:t>
            </a:r>
            <a:br>
              <a:rPr lang="en" sz="1700"/>
            </a:br>
            <a:r>
              <a:rPr lang="en" sz="1700"/>
              <a:t> 	Improved </a:t>
            </a:r>
            <a:r>
              <a:rPr b="1" lang="en" sz="1700"/>
              <a:t>grid integration</a:t>
            </a:r>
            <a:r>
              <a:rPr lang="en" sz="1700"/>
              <a:t> by enhancing prediction accuracy.</a:t>
            </a:r>
            <a:endParaRPr b="1"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idx="4294967295" type="title"/>
          </p:nvPr>
        </p:nvSpPr>
        <p:spPr>
          <a:xfrm>
            <a:off x="311700" y="445025"/>
            <a:ext cx="4084500" cy="10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Graphs &amp; Charts:</a:t>
            </a:r>
            <a:endParaRPr sz="3600"/>
          </a:p>
        </p:txBody>
      </p:sp>
      <p:sp>
        <p:nvSpPr>
          <p:cNvPr id="158" name="Google Shape;158;p22"/>
          <p:cNvSpPr txBox="1"/>
          <p:nvPr>
            <p:ph idx="4294967295" type="body"/>
          </p:nvPr>
        </p:nvSpPr>
        <p:spPr>
          <a:xfrm>
            <a:off x="311700" y="1630600"/>
            <a:ext cx="4084500" cy="31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Line plot of </a:t>
            </a:r>
            <a:r>
              <a:rPr b="1" lang="en"/>
              <a:t>actual vs. predicted solar power output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Confusion matrix &amp; accuracy scores for </a:t>
            </a:r>
            <a:r>
              <a:rPr b="1" lang="en"/>
              <a:t>inverter failure detection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Feature importance analysis for </a:t>
            </a:r>
            <a:r>
              <a:rPr b="1" lang="en"/>
              <a:t>Random Forest/XGBoost</a:t>
            </a:r>
            <a:r>
              <a:rPr lang="en"/>
              <a:t>.</a:t>
            </a:r>
            <a:endParaRPr sz="2500"/>
          </a:p>
        </p:txBody>
      </p:sp>
      <p:pic>
        <p:nvPicPr>
          <p:cNvPr id="159" name="Google Shape;159;p22"/>
          <p:cNvPicPr preferRelativeResize="0"/>
          <p:nvPr/>
        </p:nvPicPr>
        <p:blipFill rotWithShape="1">
          <a:blip r:embed="rId3">
            <a:alphaModFix/>
          </a:blip>
          <a:srcRect b="0" l="22932" r="22932" t="0"/>
          <a:stretch/>
        </p:blipFill>
        <p:spPr>
          <a:xfrm>
            <a:off x="4705150" y="361926"/>
            <a:ext cx="2035801" cy="195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2"/>
          <p:cNvPicPr preferRelativeResize="0"/>
          <p:nvPr/>
        </p:nvPicPr>
        <p:blipFill rotWithShape="1">
          <a:blip r:embed="rId4">
            <a:alphaModFix/>
          </a:blip>
          <a:srcRect b="18033" l="0" r="0" t="18040"/>
          <a:stretch/>
        </p:blipFill>
        <p:spPr>
          <a:xfrm>
            <a:off x="6796425" y="361926"/>
            <a:ext cx="2035801" cy="195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2"/>
          <p:cNvPicPr preferRelativeResize="0"/>
          <p:nvPr/>
        </p:nvPicPr>
        <p:blipFill rotWithShape="1">
          <a:blip r:embed="rId5">
            <a:alphaModFix/>
          </a:blip>
          <a:srcRect b="553" l="0" r="0" t="563"/>
          <a:stretch/>
        </p:blipFill>
        <p:spPr>
          <a:xfrm>
            <a:off x="4705200" y="2366436"/>
            <a:ext cx="4083354" cy="2475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type="title"/>
          </p:nvPr>
        </p:nvSpPr>
        <p:spPr>
          <a:xfrm>
            <a:off x="311700" y="87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Faced &amp; Solutions</a:t>
            </a:r>
            <a:endParaRPr/>
          </a:p>
        </p:txBody>
      </p:sp>
      <p:sp>
        <p:nvSpPr>
          <p:cNvPr id="167" name="Google Shape;167;p23"/>
          <p:cNvSpPr txBox="1"/>
          <p:nvPr>
            <p:ph idx="1" type="body"/>
          </p:nvPr>
        </p:nvSpPr>
        <p:spPr>
          <a:xfrm>
            <a:off x="311700" y="751150"/>
            <a:ext cx="8520600" cy="44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1️⃣ System Freezing &amp; Performance Issues</a:t>
            </a:r>
            <a:br>
              <a:rPr b="1" lang="en" sz="1200"/>
            </a:br>
            <a:r>
              <a:rPr lang="en" sz="1200"/>
              <a:t> </a:t>
            </a:r>
            <a:r>
              <a:rPr b="1" lang="en" sz="1200"/>
              <a:t>Challenge:</a:t>
            </a:r>
            <a:r>
              <a:rPr lang="en" sz="1200"/>
              <a:t> Running multiple applications caused system lag due to an </a:t>
            </a:r>
            <a:r>
              <a:rPr b="1" lang="en" sz="1200"/>
              <a:t>Intel Core i3-9100F with 8GB RAM</a:t>
            </a:r>
            <a:r>
              <a:rPr lang="en" sz="1200"/>
              <a:t>.</a:t>
            </a:r>
            <a:br>
              <a:rPr lang="en" sz="1200"/>
            </a:br>
            <a:r>
              <a:rPr lang="en" sz="1200"/>
              <a:t> </a:t>
            </a:r>
            <a:r>
              <a:rPr b="1" lang="en" sz="1200"/>
              <a:t>Solution:</a:t>
            </a:r>
            <a:r>
              <a:rPr lang="en" sz="1200"/>
              <a:t> Optimized memory usage, limited parallel processing, and used </a:t>
            </a:r>
            <a:r>
              <a:rPr b="1" lang="en" sz="1200"/>
              <a:t>batch processing</a:t>
            </a:r>
            <a:r>
              <a:rPr lang="en" sz="1200"/>
              <a:t> for ML tasks.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2️⃣ Real-Time Deployment of AI Models</a:t>
            </a:r>
            <a:br>
              <a:rPr b="1" lang="en" sz="1200"/>
            </a:br>
            <a:r>
              <a:rPr lang="en" sz="1200"/>
              <a:t> </a:t>
            </a:r>
            <a:r>
              <a:rPr b="1" lang="en" sz="1200"/>
              <a:t>Challenge:</a:t>
            </a:r>
            <a:r>
              <a:rPr lang="en" sz="1200"/>
              <a:t> Ensuring smooth real-time AI inference with </a:t>
            </a:r>
            <a:r>
              <a:rPr b="1" lang="en" sz="1200"/>
              <a:t>Streamlit</a:t>
            </a:r>
            <a:r>
              <a:rPr lang="en" sz="1200"/>
              <a:t> and ML models.</a:t>
            </a:r>
            <a:br>
              <a:rPr lang="en" sz="1200"/>
            </a:br>
            <a:r>
              <a:rPr lang="en" sz="1200"/>
              <a:t> </a:t>
            </a:r>
            <a:r>
              <a:rPr b="1" lang="en" sz="1200"/>
              <a:t>Solution:</a:t>
            </a:r>
            <a:r>
              <a:rPr lang="en" sz="1200"/>
              <a:t> Used </a:t>
            </a:r>
            <a:r>
              <a:rPr b="1" lang="en" sz="1200"/>
              <a:t>optimized model serialization (joblib/Pickle)</a:t>
            </a:r>
            <a:r>
              <a:rPr lang="en" sz="1200"/>
              <a:t> and reduced latency by implementing </a:t>
            </a:r>
            <a:r>
              <a:rPr b="1" lang="en" sz="1200"/>
              <a:t>asynchronous data processing</a:t>
            </a:r>
            <a:r>
              <a:rPr lang="en" sz="1200"/>
              <a:t>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3️⃣ Accuracy &amp; Model Optimization</a:t>
            </a:r>
            <a:br>
              <a:rPr b="1" lang="en" sz="1200"/>
            </a:br>
            <a:r>
              <a:rPr lang="en" sz="1200"/>
              <a:t> </a:t>
            </a:r>
            <a:r>
              <a:rPr b="1" lang="en" sz="1200"/>
              <a:t>Challenge:</a:t>
            </a:r>
            <a:r>
              <a:rPr lang="en" sz="1200"/>
              <a:t> Initial </a:t>
            </a:r>
            <a:r>
              <a:rPr b="1" lang="en" sz="1200"/>
              <a:t>LSTM &amp; Random Forest models</a:t>
            </a:r>
            <a:r>
              <a:rPr lang="en" sz="1200"/>
              <a:t> had lower-than-expected accuracy.</a:t>
            </a:r>
            <a:br>
              <a:rPr lang="en" sz="1200"/>
            </a:br>
            <a:r>
              <a:rPr lang="en" sz="1200"/>
              <a:t> </a:t>
            </a:r>
            <a:r>
              <a:rPr b="1" lang="en" sz="1200"/>
              <a:t>Solution:</a:t>
            </a:r>
            <a:r>
              <a:rPr lang="en" sz="1200"/>
              <a:t> Tuned hyperparameters, increased dataset quality, and used </a:t>
            </a:r>
            <a:r>
              <a:rPr b="1" lang="en" sz="1200"/>
              <a:t>CNN/LSTM Hybrid</a:t>
            </a:r>
            <a:r>
              <a:rPr lang="en" sz="1200"/>
              <a:t> for better feature extraction.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4️⃣ Energy Forecasting &amp; Grid Integration</a:t>
            </a:r>
            <a:br>
              <a:rPr b="1" lang="en" sz="1200"/>
            </a:br>
            <a:r>
              <a:rPr lang="en" sz="1200"/>
              <a:t> </a:t>
            </a:r>
            <a:r>
              <a:rPr b="1" lang="en" sz="1200"/>
              <a:t>Challenge:</a:t>
            </a:r>
            <a:r>
              <a:rPr lang="en" sz="1200"/>
              <a:t> Fluctuations in </a:t>
            </a:r>
            <a:r>
              <a:rPr b="1" lang="en" sz="1200"/>
              <a:t>solar power predictions</a:t>
            </a:r>
            <a:r>
              <a:rPr lang="en" sz="1200"/>
              <a:t> affected optimization.</a:t>
            </a:r>
            <a:br>
              <a:rPr lang="en" sz="1200"/>
            </a:br>
            <a:r>
              <a:rPr lang="en" sz="1200"/>
              <a:t> </a:t>
            </a:r>
            <a:r>
              <a:rPr b="1" lang="en" sz="1200"/>
              <a:t>Solution:</a:t>
            </a:r>
            <a:r>
              <a:rPr lang="en" sz="1200"/>
              <a:t> Implemented </a:t>
            </a:r>
            <a:r>
              <a:rPr b="1" lang="en" sz="1200"/>
              <a:t>rolling window predictions</a:t>
            </a:r>
            <a:r>
              <a:rPr lang="en" sz="1200"/>
              <a:t> and </a:t>
            </a:r>
            <a:r>
              <a:rPr b="1" lang="en" sz="1200"/>
              <a:t>adaptive learning</a:t>
            </a:r>
            <a:r>
              <a:rPr lang="en" sz="1200"/>
              <a:t> to adjust forecasts based on new data.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5️⃣ Visualization &amp; User Interaction Issues</a:t>
            </a:r>
            <a:br>
              <a:rPr b="1" lang="en" sz="1200"/>
            </a:br>
            <a:r>
              <a:rPr lang="en" sz="1200"/>
              <a:t> </a:t>
            </a:r>
            <a:r>
              <a:rPr b="1" lang="en" sz="1200"/>
              <a:t>Challenge:</a:t>
            </a:r>
            <a:r>
              <a:rPr lang="en" sz="1200"/>
              <a:t> Streamlit dashboard was </a:t>
            </a:r>
            <a:r>
              <a:rPr b="1" lang="en" sz="1200"/>
              <a:t>slow &amp; unresponsive</a:t>
            </a:r>
            <a:r>
              <a:rPr lang="en" sz="1200"/>
              <a:t> with large datasets.</a:t>
            </a:r>
            <a:br>
              <a:rPr lang="en" sz="1200"/>
            </a:br>
            <a:r>
              <a:rPr lang="en" sz="1200"/>
              <a:t> </a:t>
            </a:r>
            <a:r>
              <a:rPr b="1" lang="en" sz="1200"/>
              <a:t>Solution:</a:t>
            </a:r>
            <a:r>
              <a:rPr lang="en" sz="1200"/>
              <a:t> Used </a:t>
            </a:r>
            <a:r>
              <a:rPr b="1" lang="en" sz="1200"/>
              <a:t>caching techniques (st.cache)</a:t>
            </a:r>
            <a:r>
              <a:rPr lang="en" sz="1200"/>
              <a:t> and </a:t>
            </a:r>
            <a:r>
              <a:rPr b="1" lang="en" sz="1200"/>
              <a:t>optimized DataFrame operations</a:t>
            </a:r>
            <a:r>
              <a:rPr lang="en" sz="1200"/>
              <a:t> for better performance.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type="title"/>
          </p:nvPr>
        </p:nvSpPr>
        <p:spPr>
          <a:xfrm>
            <a:off x="311700" y="87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73" name="Google Shape;173;p24"/>
          <p:cNvSpPr txBox="1"/>
          <p:nvPr>
            <p:ph idx="1" type="body"/>
          </p:nvPr>
        </p:nvSpPr>
        <p:spPr>
          <a:xfrm>
            <a:off x="311700" y="751150"/>
            <a:ext cx="8520600" cy="44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🔹</a:t>
            </a:r>
            <a:r>
              <a:rPr lang="en" sz="1700"/>
              <a:t>AI-driven solar energy management </a:t>
            </a:r>
            <a:r>
              <a:rPr b="1" lang="en" sz="1700"/>
              <a:t>enhances efficiency, reduces costs, and optimizes power distribution</a:t>
            </a:r>
            <a:r>
              <a:rPr lang="en" sz="1700"/>
              <a:t>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🔹</a:t>
            </a:r>
            <a:r>
              <a:rPr b="1" lang="en" sz="1700"/>
              <a:t>LSTM &amp; GRU models</a:t>
            </a:r>
            <a:r>
              <a:rPr lang="en" sz="1700"/>
              <a:t> accurately forecast solar power generation, improving grid integration.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🔹</a:t>
            </a:r>
            <a:r>
              <a:rPr b="1" lang="en" sz="1700"/>
              <a:t>Random Forest/XGBoost</a:t>
            </a:r>
            <a:r>
              <a:rPr lang="en" sz="1700"/>
              <a:t> effectively detects </a:t>
            </a:r>
            <a:r>
              <a:rPr b="1" lang="en" sz="1700"/>
              <a:t>inverter failures</a:t>
            </a:r>
            <a:r>
              <a:rPr lang="en" sz="1700"/>
              <a:t>, reducing downtime.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🔹</a:t>
            </a:r>
            <a:r>
              <a:rPr b="1" lang="en" sz="1700"/>
              <a:t>Streamlit-based dashboard</a:t>
            </a:r>
            <a:r>
              <a:rPr lang="en" sz="1700"/>
              <a:t> provides </a:t>
            </a:r>
            <a:r>
              <a:rPr b="1" lang="en" sz="1700"/>
              <a:t>real-time monitoring</a:t>
            </a:r>
            <a:r>
              <a:rPr lang="en" sz="1700"/>
              <a:t> for better decision-making.</a:t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>
            <p:ph type="title"/>
          </p:nvPr>
        </p:nvSpPr>
        <p:spPr>
          <a:xfrm>
            <a:off x="311700" y="87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Scope</a:t>
            </a:r>
            <a:endParaRPr/>
          </a:p>
        </p:txBody>
      </p:sp>
      <p:sp>
        <p:nvSpPr>
          <p:cNvPr id="179" name="Google Shape;179;p25"/>
          <p:cNvSpPr txBox="1"/>
          <p:nvPr>
            <p:ph idx="1" type="body"/>
          </p:nvPr>
        </p:nvSpPr>
        <p:spPr>
          <a:xfrm>
            <a:off x="311700" y="751150"/>
            <a:ext cx="8520600" cy="44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 🔹 </a:t>
            </a:r>
            <a:r>
              <a:rPr b="1" lang="en" sz="1700"/>
              <a:t>Integration with IoT Sensors</a:t>
            </a:r>
            <a:r>
              <a:rPr lang="en" sz="1700"/>
              <a:t> – Real-time data collection from solar panels for </a:t>
            </a:r>
            <a:r>
              <a:rPr b="1" lang="en" sz="1700"/>
              <a:t>enhanced AI predictions</a:t>
            </a:r>
            <a:r>
              <a:rPr lang="en" sz="1700"/>
              <a:t>.</a:t>
            </a:r>
            <a:br>
              <a:rPr lang="en" sz="1700"/>
            </a:br>
            <a:r>
              <a:rPr lang="en" sz="1700"/>
              <a:t> 🔹 </a:t>
            </a:r>
            <a:r>
              <a:rPr b="1" lang="en" sz="1700"/>
              <a:t>Hybrid AI Models</a:t>
            </a:r>
            <a:r>
              <a:rPr lang="en" sz="1700"/>
              <a:t> – Combining </a:t>
            </a:r>
            <a:r>
              <a:rPr b="1" lang="en" sz="1700"/>
              <a:t>Reinforcement Learning &amp; Deep Learning</a:t>
            </a:r>
            <a:r>
              <a:rPr lang="en" sz="1700"/>
              <a:t> for better energy optimization.</a:t>
            </a:r>
            <a:br>
              <a:rPr lang="en" sz="1700"/>
            </a:br>
            <a:r>
              <a:rPr lang="en" sz="1700"/>
              <a:t> 🔹 </a:t>
            </a:r>
            <a:r>
              <a:rPr b="1" lang="en" sz="1700"/>
              <a:t>Scalability &amp; Cloud Deployment</a:t>
            </a:r>
            <a:r>
              <a:rPr lang="en" sz="1700"/>
              <a:t> – Deploying on </a:t>
            </a:r>
            <a:r>
              <a:rPr b="1" lang="en" sz="1700"/>
              <a:t>AWS/GCP for large-scale implementation</a:t>
            </a:r>
            <a:r>
              <a:rPr lang="en" sz="1700"/>
              <a:t>.</a:t>
            </a:r>
            <a:br>
              <a:rPr lang="en" sz="1700"/>
            </a:br>
            <a:r>
              <a:rPr lang="en" sz="1700"/>
              <a:t> 🔹 </a:t>
            </a:r>
            <a:r>
              <a:rPr b="1" lang="en" sz="1700"/>
              <a:t>Smart Grid Integration</a:t>
            </a:r>
            <a:r>
              <a:rPr lang="en" sz="1700"/>
              <a:t> – AI-driven </a:t>
            </a:r>
            <a:r>
              <a:rPr b="1" lang="en" sz="1700"/>
              <a:t>adaptive energy distribution</a:t>
            </a:r>
            <a:r>
              <a:rPr lang="en" sz="1700"/>
              <a:t> for efficient power management.</a:t>
            </a:r>
            <a:br>
              <a:rPr lang="en" sz="1700"/>
            </a:br>
            <a:r>
              <a:rPr lang="en" sz="1700"/>
              <a:t> 🔹 </a:t>
            </a:r>
            <a:r>
              <a:rPr b="1" lang="en" sz="1700"/>
              <a:t>Predictive Maintenance</a:t>
            </a:r>
            <a:r>
              <a:rPr lang="en" sz="1700"/>
              <a:t> – Advanced </a:t>
            </a:r>
            <a:r>
              <a:rPr b="1" lang="en" sz="1700"/>
              <a:t>AI models for proactive fault detection &amp; self-healing energy</a:t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199575" y="21939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You.</a:t>
            </a:r>
            <a:endParaRPr/>
          </a:p>
        </p:txBody>
      </p:sp>
      <p:pic>
        <p:nvPicPr>
          <p:cNvPr id="185" name="Google Shape;185;p26" title="Upward shot of Golden Gate Bridge against blue sky"/>
          <p:cNvPicPr preferRelativeResize="0"/>
          <p:nvPr/>
        </p:nvPicPr>
        <p:blipFill rotWithShape="1">
          <a:blip r:embed="rId3">
            <a:alphaModFix/>
          </a:blip>
          <a:srcRect b="0" l="19071" r="4853" t="9"/>
          <a:stretch/>
        </p:blipFill>
        <p:spPr>
          <a:xfrm>
            <a:off x="3274676" y="0"/>
            <a:ext cx="5869325" cy="5143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