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Old Standard TT"/>
      <p:regular r:id="rId31"/>
      <p:bold r:id="rId32"/>
      <p: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ldStandardT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ldStandardTT-italic.fntdata"/><Relationship Id="rId10" Type="http://schemas.openxmlformats.org/officeDocument/2006/relationships/slide" Target="slides/slide5.xml"/><Relationship Id="rId32" Type="http://schemas.openxmlformats.org/officeDocument/2006/relationships/font" Target="fonts/OldStandardT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58ec60435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58ec6043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58ec60435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58ec6043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58ec60435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58ec604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58ec60435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58ec604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58ec60435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58ec6043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58ec60435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58ec6043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58ec60435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58ec6043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58ec60435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58ec6043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58ec6043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358ec6043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ec608dc38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ec608dc3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ec608dc38_0_9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ec608dc38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58ec60435_0_1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58ec6043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358ec60435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358ec6043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ec608dc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ec608dc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ec608dc3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3ec608dc3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ec608dc38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3ec608dc38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ec608dc38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ec608dc38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ec608dc38_0_10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ec608dc38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ec608dc38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3ec608dc38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3ec608dc38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3ec608dc38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ec608dc38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ec608dc38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ec608dc38_0_10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ec608dc38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457800" y="-76955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AI-Driven Sustainable Energy Management: Forecasting, Optimization, and Commercial Viability of Solar Energy Systems</a:t>
            </a:r>
            <a:endParaRPr sz="18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1892025"/>
            <a:ext cx="8118600" cy="22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Team Members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J.Abinesh 952521104001 -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T.Selvin 952521104046 -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S.Siva 952521104047 -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P.Srinidas 952521104050 - IV CSE</a:t>
            </a:r>
            <a:endParaRPr sz="1900"/>
          </a:p>
        </p:txBody>
      </p:sp>
      <p:sp>
        <p:nvSpPr>
          <p:cNvPr id="61" name="Google Shape;61;p13"/>
          <p:cNvSpPr txBox="1"/>
          <p:nvPr/>
        </p:nvSpPr>
        <p:spPr>
          <a:xfrm>
            <a:off x="400000" y="3826150"/>
            <a:ext cx="8063700" cy="107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GUIDED BY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Ms.Pandi Selvi AP/CSE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57800" y="786538"/>
            <a:ext cx="80637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Renganayagi Varatharaj College of Engineering</a:t>
            </a:r>
            <a:endParaRPr sz="17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B.E Computer Science And Engineering</a:t>
            </a:r>
            <a:endParaRPr sz="17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ransition spd="med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Project Overview</a:t>
            </a:r>
            <a:br>
              <a:rPr b="1" lang="en" sz="1300"/>
            </a:br>
            <a:r>
              <a:rPr lang="en" sz="1300"/>
              <a:t> This project, </a:t>
            </a:r>
            <a:r>
              <a:rPr b="1" lang="en" sz="1300"/>
              <a:t>AI-Driven Sustainable Energy Management</a:t>
            </a:r>
            <a:r>
              <a:rPr lang="en" sz="1300"/>
              <a:t>, utilizes machine learning and deep learning to improve the efficiency and reliability of solar energy systems. The focus is on </a:t>
            </a:r>
            <a:r>
              <a:rPr b="1" lang="en" sz="1300"/>
              <a:t>solar power forecasting, inverter failure detection, and energy optimization</a:t>
            </a:r>
            <a:r>
              <a:rPr lang="en" sz="1300"/>
              <a:t> through AI-based models.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Importance &amp; Relevance</a:t>
            </a:r>
            <a:endParaRPr b="1"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Increasing Demand for Renewable Energy</a:t>
            </a:r>
            <a:r>
              <a:rPr lang="en" sz="1300"/>
              <a:t> – Solar energy is a key solution for sustainable power generation.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Challenges in Solar Energy Management</a:t>
            </a:r>
            <a:r>
              <a:rPr lang="en" sz="1300"/>
              <a:t> – Weather fluctuations, cloud cover, and equipment failures impact efficiency.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AI-Powered Solutions</a:t>
            </a:r>
            <a:r>
              <a:rPr lang="en" sz="1300"/>
              <a:t> – Machine learning models such as </a:t>
            </a:r>
            <a:r>
              <a:rPr b="1" lang="en" sz="1300"/>
              <a:t>LSTM, XGBoost, and CNN-LSTM Hybrid</a:t>
            </a:r>
            <a:r>
              <a:rPr lang="en" sz="1300"/>
              <a:t> enhance solar power predictions and minimize system downtime.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Commercial and Environmental Impact</a:t>
            </a:r>
            <a:r>
              <a:rPr lang="en" sz="1300"/>
              <a:t> – Improved grid integration, reduced energy wastage, and cost-effective operations.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This project aims to create a </a:t>
            </a:r>
            <a:r>
              <a:rPr b="1" lang="en" sz="1300"/>
              <a:t>more reliable, efficient, and scalable</a:t>
            </a:r>
            <a:r>
              <a:rPr lang="en" sz="1300"/>
              <a:t> solar energy system using AI-based optimization.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Defining the Problem</a:t>
            </a:r>
            <a:br>
              <a:rPr b="1" lang="en" sz="1300"/>
            </a:br>
            <a:r>
              <a:rPr lang="en" sz="1300"/>
              <a:t> Solar energy generation is highly dependent on </a:t>
            </a:r>
            <a:r>
              <a:rPr b="1" lang="en" sz="1300"/>
              <a:t>weather conditions, cloud cover, and environmental factors</a:t>
            </a:r>
            <a:r>
              <a:rPr lang="en" sz="1300"/>
              <a:t>, making it </a:t>
            </a:r>
            <a:r>
              <a:rPr b="1" lang="en" sz="1300"/>
              <a:t>unpredictable and inconsistent</a:t>
            </a:r>
            <a:r>
              <a:rPr lang="en" sz="1300"/>
              <a:t>. Inefficient forecasting and unexpected inverter failures lead to: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Fluctuations in power supply</a:t>
            </a:r>
            <a:r>
              <a:rPr lang="en" sz="1300"/>
              <a:t>, affecting grid stability.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Energy wastage</a:t>
            </a:r>
            <a:r>
              <a:rPr lang="en" sz="1300"/>
              <a:t> due to poor power distribution.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Higher maintenance costs</a:t>
            </a:r>
            <a:r>
              <a:rPr lang="en" sz="1300"/>
              <a:t> and increased downtime of solar inverters.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Need for a Solution</a:t>
            </a:r>
            <a:br>
              <a:rPr b="1" lang="en" sz="1300"/>
            </a:br>
            <a:r>
              <a:rPr lang="en" sz="1300"/>
              <a:t> To maximize solar energy utilization, an </a:t>
            </a:r>
            <a:r>
              <a:rPr b="1" lang="en" sz="1300"/>
              <a:t>AI-driven energy management system</a:t>
            </a:r>
            <a:r>
              <a:rPr lang="en" sz="1300"/>
              <a:t> is required to: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Improve solar power forecasting</a:t>
            </a:r>
            <a:r>
              <a:rPr lang="en" sz="1300"/>
              <a:t> using machine learning.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Detect and prevent inverter failures</a:t>
            </a:r>
            <a:r>
              <a:rPr lang="en" sz="1300"/>
              <a:t> before they occur.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/>
              <a:t>Optimize energy distribution</a:t>
            </a:r>
            <a:r>
              <a:rPr lang="en" sz="1300"/>
              <a:t> to enhance efficiency and grid integration.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This project addresses these challenges by implementing </a:t>
            </a:r>
            <a:r>
              <a:rPr b="1" lang="en" sz="1300"/>
              <a:t>AI-based predictive models</a:t>
            </a:r>
            <a:r>
              <a:rPr lang="en" sz="1300"/>
              <a:t>, ensuring a </a:t>
            </a:r>
            <a:r>
              <a:rPr b="1" lang="en" sz="1300"/>
              <a:t>stable, cost-effective, and sustainable</a:t>
            </a:r>
            <a:r>
              <a:rPr lang="en" sz="1300"/>
              <a:t> solar energy system.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Objectives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1" marL="914400" rtl="0" algn="l">
              <a:spcBef>
                <a:spcPts val="1200"/>
              </a:spcBef>
              <a:spcAft>
                <a:spcPts val="0"/>
              </a:spcAft>
              <a:buSzPts val="2100"/>
              <a:buFont typeface="Old Standard TT"/>
              <a:buChar char="○"/>
            </a:pPr>
            <a:r>
              <a:rPr b="1" lang="en" sz="1600"/>
              <a:t>Develop an AI-driven solar energy management system</a:t>
            </a:r>
            <a:r>
              <a:rPr lang="en" sz="1600"/>
              <a:t> to improve efficiency and reliability.</a:t>
            </a:r>
            <a:endParaRPr sz="16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○"/>
            </a:pPr>
            <a:r>
              <a:rPr b="1" lang="en" sz="1600"/>
              <a:t>Enhance solar power forecasting</a:t>
            </a:r>
            <a:r>
              <a:rPr lang="en" sz="1600"/>
              <a:t> using deep learning models such as </a:t>
            </a:r>
            <a:r>
              <a:rPr b="1" lang="en" sz="1600"/>
              <a:t>LSTM and CNN-LSTM Hybrid</a:t>
            </a:r>
            <a:r>
              <a:rPr lang="en" sz="1600"/>
              <a:t>.</a:t>
            </a:r>
            <a:endParaRPr sz="16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○"/>
            </a:pPr>
            <a:r>
              <a:rPr b="1" lang="en" sz="1600"/>
              <a:t>Predict inverter failures</a:t>
            </a:r>
            <a:r>
              <a:rPr lang="en" sz="1600"/>
              <a:t> with machine learning techniques like </a:t>
            </a:r>
            <a:r>
              <a:rPr b="1" lang="en" sz="1600"/>
              <a:t>XGBoost and Random Forest</a:t>
            </a:r>
            <a:r>
              <a:rPr lang="en" sz="1600"/>
              <a:t> to reduce downtime.</a:t>
            </a:r>
            <a:endParaRPr sz="16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○"/>
            </a:pPr>
            <a:r>
              <a:rPr b="1" lang="en" sz="1600"/>
              <a:t>Optimize energy distribution</a:t>
            </a:r>
            <a:r>
              <a:rPr lang="en" sz="1600"/>
              <a:t> for better grid integration and reduced power wastage.</a:t>
            </a:r>
            <a:endParaRPr sz="16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Old Standard TT"/>
              <a:buChar char="○"/>
            </a:pPr>
            <a:r>
              <a:rPr b="1" lang="en" sz="1600"/>
              <a:t>Deploy a real-time monitoring system</a:t>
            </a:r>
            <a:r>
              <a:rPr lang="en" sz="1600"/>
              <a:t> using </a:t>
            </a:r>
            <a:r>
              <a:rPr b="1" lang="en" sz="1600"/>
              <a:t>Streamlit</a:t>
            </a:r>
            <a:r>
              <a:rPr lang="en" sz="1600"/>
              <a:t> for user-friendly visualization and decision-making.</a:t>
            </a:r>
            <a:endParaRPr b="1"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Scope of the Project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✔ </a:t>
            </a:r>
            <a:r>
              <a:rPr b="1" lang="en"/>
              <a:t>Covered: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/>
              <a:t>AI-based </a:t>
            </a:r>
            <a:r>
              <a:rPr b="1" lang="en"/>
              <a:t>solar power prediction</a:t>
            </a:r>
            <a:r>
              <a:rPr lang="en"/>
              <a:t> and </a:t>
            </a:r>
            <a:r>
              <a:rPr b="1" lang="en"/>
              <a:t>inverter failure detection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/>
              <a:t>Machine learning models for </a:t>
            </a:r>
            <a:r>
              <a:rPr b="1" lang="en"/>
              <a:t>forecasting and optimization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/>
              <a:t>Real-time monitoring through </a:t>
            </a:r>
            <a:r>
              <a:rPr b="1" lang="en"/>
              <a:t>Streamlit-based dashboards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✖ </a:t>
            </a:r>
            <a:r>
              <a:rPr b="1" lang="en"/>
              <a:t>Not Covered: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/>
              <a:t>Hardware implementation of solar panels or inverters.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/>
              <a:t>Integration with large-scale </a:t>
            </a:r>
            <a:r>
              <a:rPr b="1" lang="en"/>
              <a:t>smart grid networks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/>
              <a:t>Economic feasibility analysis beyond energy forecasting and efficiency.</a:t>
            </a:r>
            <a:endParaRPr b="1"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Survey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Research &amp; Similar Projects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SolarNet Model (Ping-Huan Kuo &amp; Chiou-Jye Huang, 2022)</a:t>
            </a:r>
            <a:br>
              <a:rPr b="1" lang="en" sz="1600"/>
            </a:b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Developed a </a:t>
            </a:r>
            <a:r>
              <a:rPr b="1" lang="en" sz="1600"/>
              <a:t>deep convolutional neural network (CNN)</a:t>
            </a:r>
            <a:r>
              <a:rPr lang="en" sz="1600"/>
              <a:t> for solar radiation forecasting.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Achieved high accuracy but focused mainly on </a:t>
            </a:r>
            <a:r>
              <a:rPr b="1" lang="en" sz="1600"/>
              <a:t>solar radiation</a:t>
            </a:r>
            <a:r>
              <a:rPr lang="en" sz="1600"/>
              <a:t> rather than full energy management.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Machine Learning for Solar Forecasting (Various Studies)</a:t>
            </a:r>
            <a:br>
              <a:rPr b="1" lang="en" sz="1600"/>
            </a:b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Models such as </a:t>
            </a:r>
            <a:r>
              <a:rPr b="1" lang="en" sz="1600"/>
              <a:t>ANN, SVM, and Random Forest</a:t>
            </a:r>
            <a:r>
              <a:rPr lang="en" sz="1600"/>
              <a:t> have been used for solar power prediction.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Challenges include </a:t>
            </a:r>
            <a:r>
              <a:rPr b="1" lang="en" sz="1600"/>
              <a:t>lower accuracy in volatile conditions</a:t>
            </a:r>
            <a:r>
              <a:rPr lang="en" sz="1600"/>
              <a:t> and </a:t>
            </a:r>
            <a:r>
              <a:rPr b="1" lang="en" sz="1600"/>
              <a:t>lack of real-time deployment</a:t>
            </a:r>
            <a:r>
              <a:rPr lang="en" sz="1600"/>
              <a:t>.</a:t>
            </a:r>
            <a:endParaRPr b="1"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Our Project Improves Upon Existing Solutions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368300" lvl="1" marL="914400" rtl="0" algn="l">
              <a:spcBef>
                <a:spcPts val="1200"/>
              </a:spcBef>
              <a:spcAft>
                <a:spcPts val="0"/>
              </a:spcAft>
              <a:buSzPts val="2200"/>
              <a:buFont typeface="Old Standard TT"/>
              <a:buChar char="○"/>
            </a:pPr>
            <a:r>
              <a:rPr b="1" lang="en" sz="1700"/>
              <a:t>Multi-Model Approach:</a:t>
            </a:r>
            <a:r>
              <a:rPr lang="en" sz="1700"/>
              <a:t> Uses </a:t>
            </a:r>
            <a:r>
              <a:rPr b="1" lang="en" sz="1700"/>
              <a:t>LSTM/GRU, CNN-LSTM Hybrid, and XGBoost</a:t>
            </a:r>
            <a:r>
              <a:rPr lang="en" sz="1700"/>
              <a:t> for </a:t>
            </a:r>
            <a:r>
              <a:rPr b="1" lang="en" sz="1700"/>
              <a:t>more accurate and robust predictions</a:t>
            </a:r>
            <a:r>
              <a:rPr lang="en" sz="1700"/>
              <a:t>.</a:t>
            </a:r>
            <a:endParaRPr sz="17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○"/>
            </a:pPr>
            <a:r>
              <a:rPr b="1" lang="en" sz="1700"/>
              <a:t>Inverter Failure Prediction:</a:t>
            </a:r>
            <a:r>
              <a:rPr lang="en" sz="1700"/>
              <a:t> Unlike previous models that only forecast power, this project </a:t>
            </a:r>
            <a:r>
              <a:rPr b="1" lang="en" sz="1700"/>
              <a:t>integrates inverter failure detection</a:t>
            </a:r>
            <a:r>
              <a:rPr lang="en" sz="1700"/>
              <a:t> to reduce downtime.</a:t>
            </a:r>
            <a:endParaRPr sz="17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○"/>
            </a:pPr>
            <a:r>
              <a:rPr b="1" lang="en" sz="1700"/>
              <a:t>Real-Time Monitoring:</a:t>
            </a:r>
            <a:r>
              <a:rPr lang="en" sz="1700"/>
              <a:t> Implements </a:t>
            </a:r>
            <a:r>
              <a:rPr b="1" lang="en" sz="1700"/>
              <a:t>Streamlit dashboards</a:t>
            </a:r>
            <a:r>
              <a:rPr lang="en" sz="1700"/>
              <a:t> for </a:t>
            </a:r>
            <a:r>
              <a:rPr b="1" lang="en" sz="1700"/>
              <a:t>live monitoring and visualization</a:t>
            </a:r>
            <a:r>
              <a:rPr lang="en" sz="1700"/>
              <a:t>, enabling better decision-making.</a:t>
            </a:r>
            <a:endParaRPr sz="17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○"/>
            </a:pPr>
            <a:r>
              <a:rPr b="1" lang="en" sz="1700"/>
              <a:t>Optimization for Grid Stability:</a:t>
            </a:r>
            <a:r>
              <a:rPr lang="en" sz="1700"/>
              <a:t> AI-driven forecasting helps in </a:t>
            </a:r>
            <a:r>
              <a:rPr b="1" lang="en" sz="1700"/>
              <a:t>efficient energy storage and grid integration</a:t>
            </a:r>
            <a:r>
              <a:rPr lang="en" sz="1700"/>
              <a:t>, improving overall energy management.</a:t>
            </a:r>
            <a:endParaRPr b="1"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75115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1️⃣ </a:t>
            </a:r>
            <a:r>
              <a:rPr b="1" lang="en" sz="1700"/>
              <a:t>Data Collection &amp; Preprocessing</a:t>
            </a:r>
            <a:r>
              <a:rPr lang="en" sz="1700"/>
              <a:t> – Solar power production, inverter performance, and weather data are collected, cleaned, and normalized for machine learning.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2️⃣ </a:t>
            </a:r>
            <a:r>
              <a:rPr b="1" lang="en" sz="1700"/>
              <a:t>Model Selection &amp; Training</a:t>
            </a:r>
            <a:r>
              <a:rPr lang="en" sz="1700"/>
              <a:t> – LSTM/GRU is used for </a:t>
            </a:r>
            <a:r>
              <a:rPr b="1" lang="en" sz="1700"/>
              <a:t>solar power forecasting</a:t>
            </a:r>
            <a:r>
              <a:rPr lang="en" sz="1700"/>
              <a:t>, XGBoost/Random Forest for </a:t>
            </a:r>
            <a:r>
              <a:rPr b="1" lang="en" sz="1700"/>
              <a:t>inverter failure detection</a:t>
            </a:r>
            <a:r>
              <a:rPr lang="en" sz="1700"/>
              <a:t>, and CNN/LSTM Hybrid for advanced </a:t>
            </a:r>
            <a:r>
              <a:rPr b="1" lang="en" sz="1700"/>
              <a:t>feature extraction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3️⃣ </a:t>
            </a:r>
            <a:r>
              <a:rPr b="1" lang="en" sz="1700"/>
              <a:t>AI-Based Optimization &amp; Prediction</a:t>
            </a:r>
            <a:r>
              <a:rPr lang="en" sz="1700"/>
              <a:t> – Models predict </a:t>
            </a:r>
            <a:r>
              <a:rPr b="1" lang="en" sz="1700"/>
              <a:t>future power generation and system failures</a:t>
            </a:r>
            <a:r>
              <a:rPr lang="en" sz="1700"/>
              <a:t>, enabling optimized </a:t>
            </a:r>
            <a:r>
              <a:rPr b="1" lang="en" sz="1700"/>
              <a:t>energy storage and distribution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4️⃣ </a:t>
            </a:r>
            <a:r>
              <a:rPr b="1" lang="en" sz="1700"/>
              <a:t>Deployment &amp; Real-Time Monitoring</a:t>
            </a:r>
            <a:r>
              <a:rPr lang="en" sz="1700"/>
              <a:t> – The trained models are deployed in a </a:t>
            </a:r>
            <a:r>
              <a:rPr b="1" lang="en" sz="1700"/>
              <a:t>Streamlit dashboard</a:t>
            </a:r>
            <a:r>
              <a:rPr lang="en" sz="1700"/>
              <a:t> for live monitoring, and adaptive learning is used to enhance accuracy over time.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Overview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Collection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26" name="Google Shape;126;p24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127" name="Google Shape;127;p24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4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4"/>
          <p:cNvSpPr txBox="1"/>
          <p:nvPr>
            <p:ph idx="4294967295" type="body"/>
          </p:nvPr>
        </p:nvSpPr>
        <p:spPr>
          <a:xfrm>
            <a:off x="318375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Gather solar power production and inverter performance data.</a:t>
            </a:r>
            <a:endParaRPr sz="1600"/>
          </a:p>
        </p:txBody>
      </p:sp>
      <p:sp>
        <p:nvSpPr>
          <p:cNvPr id="130" name="Google Shape;130;p24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4294967295" type="body"/>
          </p:nvPr>
        </p:nvSpPr>
        <p:spPr>
          <a:xfrm>
            <a:off x="2025950" y="2336550"/>
            <a:ext cx="17418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Data Preprocessing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132" name="Google Shape;132;p24"/>
          <p:cNvGrpSpPr/>
          <p:nvPr/>
        </p:nvGrpSpPr>
        <p:grpSpPr>
          <a:xfrm>
            <a:off x="2266282" y="2938958"/>
            <a:ext cx="198900" cy="593656"/>
            <a:chOff x="2223534" y="2938958"/>
            <a:chExt cx="198900" cy="593656"/>
          </a:xfrm>
        </p:grpSpPr>
        <p:cxnSp>
          <p:nvCxnSpPr>
            <p:cNvPr id="133" name="Google Shape;133;p24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24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24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Clean and transform data for machine learning models.</a:t>
            </a:r>
            <a:endParaRPr sz="1600"/>
          </a:p>
        </p:txBody>
      </p:sp>
      <p:sp>
        <p:nvSpPr>
          <p:cNvPr id="136" name="Google Shape;136;p24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Model Selection &amp; Training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138" name="Google Shape;138;p24"/>
          <p:cNvGrpSpPr/>
          <p:nvPr/>
        </p:nvGrpSpPr>
        <p:grpSpPr>
          <a:xfrm>
            <a:off x="4058732" y="1610215"/>
            <a:ext cx="198900" cy="593656"/>
            <a:chOff x="3918084" y="1610215"/>
            <a:chExt cx="198900" cy="593656"/>
          </a:xfrm>
        </p:grpSpPr>
        <p:cxnSp>
          <p:nvCxnSpPr>
            <p:cNvPr id="139" name="Google Shape;139;p24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" name="Google Shape;140;p24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4"/>
          <p:cNvSpPr txBox="1"/>
          <p:nvPr>
            <p:ph idx="4294967295" type="body"/>
          </p:nvPr>
        </p:nvSpPr>
        <p:spPr>
          <a:xfrm>
            <a:off x="3304094" y="1465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LSTM Model for solar power prediction. Random Forest Classifier for inverter failure detection.</a:t>
            </a:r>
            <a:endParaRPr sz="1600"/>
          </a:p>
        </p:txBody>
      </p:sp>
      <p:sp>
        <p:nvSpPr>
          <p:cNvPr id="142" name="Google Shape;142;p24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Evaluation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4" name="Google Shape;144;p24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45" name="Google Shape;145;p24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" name="Google Shape;146;p24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24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Assess accuracy and fine-tune hyperparameters.</a:t>
            </a:r>
            <a:endParaRPr sz="1600"/>
          </a:p>
        </p:txBody>
      </p:sp>
      <p:sp>
        <p:nvSpPr>
          <p:cNvPr id="148" name="Google Shape;148;p24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Deployment</a:t>
            </a:r>
            <a:endParaRPr sz="1400">
              <a:solidFill>
                <a:schemeClr val="lt1"/>
              </a:solidFill>
            </a:endParaRPr>
          </a:p>
        </p:txBody>
      </p:sp>
      <p:grpSp>
        <p:nvGrpSpPr>
          <p:cNvPr id="150" name="Google Shape;150;p24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51" name="Google Shape;151;p24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" name="Google Shape;152;p24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24"/>
          <p:cNvSpPr txBox="1"/>
          <p:nvPr>
            <p:ph idx="4294967295" type="body"/>
          </p:nvPr>
        </p:nvSpPr>
        <p:spPr>
          <a:xfrm>
            <a:off x="6685979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Implement real-time AI predictions to optimize energy management.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117000" y="114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Diagram</a:t>
            </a:r>
            <a:endParaRPr/>
          </a:p>
        </p:txBody>
      </p:sp>
      <p:cxnSp>
        <p:nvCxnSpPr>
          <p:cNvPr id="159" name="Google Shape;159;p25"/>
          <p:cNvCxnSpPr/>
          <p:nvPr/>
        </p:nvCxnSpPr>
        <p:spPr>
          <a:xfrm>
            <a:off x="420075" y="2790116"/>
            <a:ext cx="833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160" name="Google Shape;160;p25"/>
          <p:cNvGrpSpPr/>
          <p:nvPr/>
        </p:nvGrpSpPr>
        <p:grpSpPr>
          <a:xfrm>
            <a:off x="648675" y="1581271"/>
            <a:ext cx="196200" cy="1306800"/>
            <a:chOff x="648675" y="1657471"/>
            <a:chExt cx="196200" cy="1306800"/>
          </a:xfrm>
        </p:grpSpPr>
        <p:sp>
          <p:nvSpPr>
            <p:cNvPr id="161" name="Google Shape;161;p25"/>
            <p:cNvSpPr/>
            <p:nvPr/>
          </p:nvSpPr>
          <p:spPr>
            <a:xfrm>
              <a:off x="6486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2" name="Google Shape;162;p25"/>
            <p:cNvCxnSpPr>
              <a:stCxn id="161" idx="0"/>
            </p:cNvCxnSpPr>
            <p:nvPr/>
          </p:nvCxnSpPr>
          <p:spPr>
            <a:xfrm rot="10800000">
              <a:off x="746775" y="1657471"/>
              <a:ext cx="0" cy="111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163" name="Google Shape;163;p25"/>
          <p:cNvSpPr txBox="1"/>
          <p:nvPr>
            <p:ph idx="4294967295" type="body"/>
          </p:nvPr>
        </p:nvSpPr>
        <p:spPr>
          <a:xfrm>
            <a:off x="844875" y="1225675"/>
            <a:ext cx="2662200" cy="1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Collection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Gather solar power, inverter performance, and weather data.</a:t>
            </a:r>
            <a:endParaRPr sz="1400"/>
          </a:p>
        </p:txBody>
      </p:sp>
      <p:grpSp>
        <p:nvGrpSpPr>
          <p:cNvPr id="164" name="Google Shape;164;p25"/>
          <p:cNvGrpSpPr/>
          <p:nvPr/>
        </p:nvGrpSpPr>
        <p:grpSpPr>
          <a:xfrm>
            <a:off x="2512925" y="2692171"/>
            <a:ext cx="196200" cy="1404905"/>
            <a:chOff x="2512925" y="2768371"/>
            <a:chExt cx="196200" cy="1404905"/>
          </a:xfrm>
        </p:grpSpPr>
        <p:cxnSp>
          <p:nvCxnSpPr>
            <p:cNvPr id="165" name="Google Shape;165;p25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6" name="Google Shape;166;p25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25"/>
          <p:cNvSpPr txBox="1"/>
          <p:nvPr>
            <p:ph idx="4294967295" type="body"/>
          </p:nvPr>
        </p:nvSpPr>
        <p:spPr>
          <a:xfrm>
            <a:off x="2709125" y="3633325"/>
            <a:ext cx="2662200" cy="25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Preprocessing &amp; Feature Engineering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Clean, normalize, and extract relevant features.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168" name="Google Shape;168;p25"/>
          <p:cNvGrpSpPr/>
          <p:nvPr/>
        </p:nvGrpSpPr>
        <p:grpSpPr>
          <a:xfrm>
            <a:off x="4279200" y="1483171"/>
            <a:ext cx="196200" cy="1404900"/>
            <a:chOff x="4279200" y="1559371"/>
            <a:chExt cx="196200" cy="1404900"/>
          </a:xfrm>
        </p:grpSpPr>
        <p:cxnSp>
          <p:nvCxnSpPr>
            <p:cNvPr id="169" name="Google Shape;169;p25"/>
            <p:cNvCxnSpPr>
              <a:stCxn id="170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0" name="Google Shape;170;p25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25"/>
          <p:cNvSpPr txBox="1"/>
          <p:nvPr>
            <p:ph idx="4294967295" type="body"/>
          </p:nvPr>
        </p:nvSpPr>
        <p:spPr>
          <a:xfrm>
            <a:off x="4572000" y="1225675"/>
            <a:ext cx="2662200" cy="13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Machine Learning Model Execution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Use LSTM for power forecasting and Random Forest for inverter failure detection.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5"/>
          <p:cNvGrpSpPr/>
          <p:nvPr/>
        </p:nvGrpSpPr>
        <p:grpSpPr>
          <a:xfrm>
            <a:off x="6045475" y="2692171"/>
            <a:ext cx="196200" cy="1404905"/>
            <a:chOff x="6045475" y="2768371"/>
            <a:chExt cx="196200" cy="1404905"/>
          </a:xfrm>
        </p:grpSpPr>
        <p:cxnSp>
          <p:nvCxnSpPr>
            <p:cNvPr id="173" name="Google Shape;173;p25"/>
            <p:cNvCxnSpPr/>
            <p:nvPr/>
          </p:nvCxnSpPr>
          <p:spPr>
            <a:xfrm>
              <a:off x="614357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4" name="Google Shape;174;p25"/>
            <p:cNvSpPr/>
            <p:nvPr/>
          </p:nvSpPr>
          <p:spPr>
            <a:xfrm>
              <a:off x="60454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5"/>
          <p:cNvSpPr txBox="1"/>
          <p:nvPr>
            <p:ph idx="4294967295" type="body"/>
          </p:nvPr>
        </p:nvSpPr>
        <p:spPr>
          <a:xfrm>
            <a:off x="6241670" y="3633325"/>
            <a:ext cx="26622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AI-Based Optimization &amp; Decision Making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Optimize energy distribution, reduce downtime, and improve grid integration.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&amp; Technologies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241625" y="483625"/>
            <a:ext cx="8520600" cy="46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Programming &amp; AI Frameworks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Python</a:t>
            </a:r>
            <a:r>
              <a:rPr lang="en" sz="1200"/>
              <a:t> – Core language for machine learning and data processing.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TensorFlow, PyTorch</a:t>
            </a:r>
            <a:r>
              <a:rPr lang="en" sz="1200"/>
              <a:t> – Deep learning frameworks for model training.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Scikit-Learn</a:t>
            </a:r>
            <a:r>
              <a:rPr lang="en" sz="1200"/>
              <a:t> – Machine learning algorithms for classification and forecasting.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Pandas, NumPy</a:t>
            </a:r>
            <a:r>
              <a:rPr lang="en" sz="1200"/>
              <a:t> – Data preprocessing and analysis.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Machine Learning Models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LSTM/GRU</a:t>
            </a:r>
            <a:r>
              <a:rPr lang="en" sz="1200"/>
              <a:t> – Time-series forecasting for solar power prediction.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XGBoost/Random Forest</a:t>
            </a:r>
            <a:r>
              <a:rPr lang="en" sz="1200"/>
              <a:t> – Inverter failure detection.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CNN-LSTM Hybrid</a:t>
            </a:r>
            <a:r>
              <a:rPr lang="en" sz="1200"/>
              <a:t> – Improved feature extraction for accuracy.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Deployment &amp; Visualization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Streamlit</a:t>
            </a:r>
            <a:r>
              <a:rPr lang="en" sz="1200"/>
              <a:t> – Real-time monitoring and interactive dashboard.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Why These Technologies?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/>
              <a:t>Ensures </a:t>
            </a:r>
            <a:r>
              <a:rPr b="1" lang="en" sz="1200"/>
              <a:t>high accuracy in solar power forecasting</a:t>
            </a:r>
            <a:r>
              <a:rPr lang="en" sz="1200"/>
              <a:t>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/>
              <a:t>Provides </a:t>
            </a:r>
            <a:r>
              <a:rPr b="1" lang="en" sz="1200"/>
              <a:t>real-time AI-based decision-making</a:t>
            </a:r>
            <a:r>
              <a:rPr lang="en" sz="1200"/>
              <a:t>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/>
              <a:t>Supports </a:t>
            </a:r>
            <a:r>
              <a:rPr b="1" lang="en" sz="1200"/>
              <a:t>scalability and easy deployment</a:t>
            </a:r>
            <a:r>
              <a:rPr lang="en" sz="1200"/>
              <a:t>.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AI-Driven Sustainable Energy Management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The increasing dependence on </a:t>
            </a:r>
            <a:r>
              <a:rPr b="1" lang="en" sz="1600"/>
              <a:t>solar energy</a:t>
            </a:r>
            <a:r>
              <a:rPr lang="en" sz="1600"/>
              <a:t> requires </a:t>
            </a:r>
            <a:r>
              <a:rPr b="1" lang="en" sz="1600"/>
              <a:t>intelligent management</a:t>
            </a:r>
            <a:r>
              <a:rPr lang="en" sz="1600"/>
              <a:t> to handle its variability and enhance efficiency.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This project leverages </a:t>
            </a:r>
            <a:r>
              <a:rPr b="1" lang="en" sz="1600"/>
              <a:t>supervised learning algorithms</a:t>
            </a:r>
            <a:r>
              <a:rPr lang="en" sz="1600"/>
              <a:t> to: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Analyze</a:t>
            </a:r>
            <a:r>
              <a:rPr lang="en" sz="1600"/>
              <a:t> solar power production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Optimize</a:t>
            </a:r>
            <a:r>
              <a:rPr lang="en" sz="1600"/>
              <a:t> energy storage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Predict</a:t>
            </a:r>
            <a:r>
              <a:rPr lang="en" sz="1600"/>
              <a:t> inverter failures to minimize downtime and costs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AI-driven forecasting enhances electricity production predictions, improving </a:t>
            </a:r>
            <a:r>
              <a:rPr b="1" lang="en" sz="1600"/>
              <a:t>grid integration</a:t>
            </a:r>
            <a:r>
              <a:rPr lang="en" sz="1600"/>
              <a:t> and </a:t>
            </a:r>
            <a:r>
              <a:rPr b="1" lang="en" sz="1600"/>
              <a:t>commercial viability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By applying </a:t>
            </a:r>
            <a:r>
              <a:rPr b="1" lang="en" sz="1600"/>
              <a:t>machine learning</a:t>
            </a:r>
            <a:r>
              <a:rPr lang="en" sz="1600"/>
              <a:t>, the system ensures: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Stable power distribution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Improved efficiency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Economic viability of renewable energy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AI-Driven Sustainable Energy Management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The increasing dependence on </a:t>
            </a:r>
            <a:r>
              <a:rPr b="1" lang="en" sz="1600"/>
              <a:t>solar energy</a:t>
            </a:r>
            <a:r>
              <a:rPr lang="en" sz="1600"/>
              <a:t> requires </a:t>
            </a:r>
            <a:r>
              <a:rPr b="1" lang="en" sz="1600"/>
              <a:t>intelligent management</a:t>
            </a:r>
            <a:r>
              <a:rPr lang="en" sz="1600"/>
              <a:t> to handle its variability and enhance efficiency.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This project leverages </a:t>
            </a:r>
            <a:r>
              <a:rPr b="1" lang="en" sz="1600"/>
              <a:t>supervised learning algorithms</a:t>
            </a:r>
            <a:r>
              <a:rPr lang="en" sz="1600"/>
              <a:t> to: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Analyze</a:t>
            </a:r>
            <a:r>
              <a:rPr lang="en" sz="1600"/>
              <a:t> solar power production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Optimize</a:t>
            </a:r>
            <a:r>
              <a:rPr lang="en" sz="1600"/>
              <a:t> energy storage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Predict</a:t>
            </a:r>
            <a:r>
              <a:rPr lang="en" sz="1600"/>
              <a:t> inverter failures to minimize downtime and costs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AI-driven forecasting enhances electricity production predictions, improving </a:t>
            </a:r>
            <a:r>
              <a:rPr b="1" lang="en" sz="1600"/>
              <a:t>grid integration</a:t>
            </a:r>
            <a:r>
              <a:rPr lang="en" sz="1600"/>
              <a:t> and </a:t>
            </a:r>
            <a:r>
              <a:rPr b="1" lang="en" sz="1600"/>
              <a:t>commercial viability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By applying </a:t>
            </a:r>
            <a:r>
              <a:rPr b="1" lang="en" sz="1600"/>
              <a:t>machine learning</a:t>
            </a:r>
            <a:r>
              <a:rPr lang="en" sz="1600"/>
              <a:t>, the system ensures: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Stable power distribution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Improved efficiency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Economic viability of renewable energy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11700" y="75115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Domain: Artificial Intelligence &amp; Machine Learning in Renewable Energy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/>
              <a:t>This project falls under the domain of </a:t>
            </a:r>
            <a:r>
              <a:rPr b="1" lang="en" sz="1700"/>
              <a:t>Artificial Intelligence (AI) and Machine Learning (ML)</a:t>
            </a:r>
            <a:r>
              <a:rPr lang="en" sz="1700"/>
              <a:t> with applications in </a:t>
            </a:r>
            <a:r>
              <a:rPr b="1" lang="en" sz="1700"/>
              <a:t>Renewable Energy Management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/>
              <a:t>AI and ML are used to: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Analyze</a:t>
            </a:r>
            <a:r>
              <a:rPr lang="en" sz="1700"/>
              <a:t> solar power production patterns.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Optimize</a:t>
            </a:r>
            <a:r>
              <a:rPr lang="en" sz="1700"/>
              <a:t> energy storage and distribution.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Predict</a:t>
            </a:r>
            <a:r>
              <a:rPr lang="en" sz="1700"/>
              <a:t> inverter failures, reducing downtime and maintenance costs.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Enhance</a:t>
            </a:r>
            <a:r>
              <a:rPr lang="en" sz="1700"/>
              <a:t> electricity production forecasting for better grid integration.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/>
              <a:t>By applying </a:t>
            </a:r>
            <a:r>
              <a:rPr b="1" lang="en" sz="1700"/>
              <a:t>AI-driven solutions</a:t>
            </a:r>
            <a:r>
              <a:rPr lang="en" sz="1700"/>
              <a:t>, the project ensures a more </a:t>
            </a:r>
            <a:r>
              <a:rPr b="1" lang="en" sz="1700"/>
              <a:t>efficient, reliable, and economically viable</a:t>
            </a:r>
            <a:r>
              <a:rPr lang="en" sz="1700"/>
              <a:t> solar energy system.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 </a:t>
            </a:r>
            <a:r>
              <a:rPr i="1" lang="en" sz="1700"/>
              <a:t>Technologies Used:</a:t>
            </a:r>
            <a:r>
              <a:rPr lang="en" sz="1700"/>
              <a:t> Machine Learning, Supervised Learning Algorithms, AI-Based Forecasting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to Solving the Problem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311700" y="751150"/>
            <a:ext cx="8520600" cy="42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AI-Driven Approach for Solar Energy Management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Data Collection &amp; Preprocessing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Gather solar power production &amp; inverter performance data.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Clean &amp; normalize data for ML model training.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Machine Learning Models for Prediction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b="1" lang="en" sz="1700"/>
              <a:t>LSTM Model</a:t>
            </a:r>
            <a:r>
              <a:rPr lang="en" sz="1700"/>
              <a:t> → Forecasts future solar power generation.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b="1" lang="en" sz="1700"/>
              <a:t>Random Forest Classifier</a:t>
            </a:r>
            <a:r>
              <a:rPr lang="en" sz="1700"/>
              <a:t> → Predicts inverter failures.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Optimization &amp; AI-Based Decision Making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/>
              <a:t>AI optimizes </a:t>
            </a:r>
            <a:r>
              <a:rPr b="1" lang="en" sz="1700"/>
              <a:t>energy storage &amp; power distribution</a:t>
            </a:r>
            <a:r>
              <a:rPr lang="en" sz="1700"/>
              <a:t>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Reduces downtime &amp; improves grid integration.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Real-Time Deployment &amp; Continuous Learning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/>
              <a:t>Live monitoring with feedback loops for </a:t>
            </a:r>
            <a:r>
              <a:rPr b="1" lang="en" sz="1700"/>
              <a:t>continuous improvement</a:t>
            </a:r>
            <a:r>
              <a:rPr lang="en" sz="1700"/>
              <a:t>.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Technologies &amp; Tools Used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Python</a:t>
            </a:r>
            <a:r>
              <a:rPr lang="en" sz="1700"/>
              <a:t> – Core programming language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TensorFlow &amp; PyTorch</a:t>
            </a:r>
            <a:r>
              <a:rPr lang="en" sz="1700"/>
              <a:t> – Deep learning model training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Scikit-Learn</a:t>
            </a:r>
            <a:r>
              <a:rPr lang="en" sz="1700"/>
              <a:t> – ML model implementation &amp; evaluation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Pandas &amp; NumPy</a:t>
            </a:r>
            <a:r>
              <a:rPr lang="en" sz="1700"/>
              <a:t> – Data preprocessing &amp; analysis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Streamlit</a:t>
            </a:r>
            <a:r>
              <a:rPr lang="en" sz="1700"/>
              <a:t> – Web-based visualization &amp; real-time monitoring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Models Implemented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LSTM/GRU</a:t>
            </a:r>
            <a:r>
              <a:rPr lang="en" sz="1700"/>
              <a:t> – Solar power forecasting (time-series prediction)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XGBoost/Random Forest</a:t>
            </a:r>
            <a:r>
              <a:rPr lang="en" sz="1700"/>
              <a:t> – Inverter failure detection (classification)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CNN/LSTM Hybrid</a:t>
            </a:r>
            <a:r>
              <a:rPr lang="en" sz="1700"/>
              <a:t> – Feature extraction &amp; advanced time-series modeling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Analysis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Model Performance &amp; Accuracy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LSTM/GRU:</a:t>
            </a:r>
            <a:r>
              <a:rPr lang="en" sz="1700"/>
              <a:t> Achieved </a:t>
            </a:r>
            <a:r>
              <a:rPr b="1" lang="en" sz="1700"/>
              <a:t>high accuracy</a:t>
            </a:r>
            <a:r>
              <a:rPr lang="en" sz="1700"/>
              <a:t> in solar power forecasting with minimal error.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XGBoost/Random Forest:</a:t>
            </a:r>
            <a:r>
              <a:rPr lang="en" sz="1700"/>
              <a:t> Effectively detected inverter failures with </a:t>
            </a:r>
            <a:r>
              <a:rPr b="1" lang="en" sz="1700"/>
              <a:t>high precision &amp; recall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CNN/LSTM Hybrid:</a:t>
            </a:r>
            <a:r>
              <a:rPr lang="en" sz="1700"/>
              <a:t> Improved feature extraction for time-series modeling.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</a:t>
            </a:r>
            <a:r>
              <a:rPr b="1" lang="en" sz="1700"/>
              <a:t>Key Findings</a:t>
            </a:r>
            <a:br>
              <a:rPr b="1" lang="en" sz="1700"/>
            </a:br>
            <a:r>
              <a:rPr lang="en" sz="1700"/>
              <a:t> 	AI-based forecasting </a:t>
            </a:r>
            <a:r>
              <a:rPr b="1" lang="en" sz="1700"/>
              <a:t>reduced energy wastage</a:t>
            </a:r>
            <a:r>
              <a:rPr lang="en" sz="1700"/>
              <a:t> by optimizing power distribution.</a:t>
            </a:r>
            <a:br>
              <a:rPr lang="en" sz="1700"/>
            </a:br>
            <a:r>
              <a:rPr lang="en" sz="1700"/>
              <a:t> 	Inverter failure prediction helped </a:t>
            </a:r>
            <a:r>
              <a:rPr b="1" lang="en" sz="1700"/>
              <a:t>minimize downtime &amp; maintenance costs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	Improved </a:t>
            </a:r>
            <a:r>
              <a:rPr b="1" lang="en" sz="1700"/>
              <a:t>grid integration</a:t>
            </a:r>
            <a:r>
              <a:rPr lang="en" sz="1700"/>
              <a:t> by enhancing prediction accuracy.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idx="4294967295" type="title"/>
          </p:nvPr>
        </p:nvSpPr>
        <p:spPr>
          <a:xfrm>
            <a:off x="311700" y="445025"/>
            <a:ext cx="40845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Graphs &amp; Charts:</a:t>
            </a:r>
            <a:endParaRPr sz="3600"/>
          </a:p>
        </p:txBody>
      </p:sp>
      <p:sp>
        <p:nvSpPr>
          <p:cNvPr id="223" name="Google Shape;223;p33"/>
          <p:cNvSpPr txBox="1"/>
          <p:nvPr>
            <p:ph idx="4294967295" type="body"/>
          </p:nvPr>
        </p:nvSpPr>
        <p:spPr>
          <a:xfrm>
            <a:off x="311700" y="1630600"/>
            <a:ext cx="40845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 plot of </a:t>
            </a:r>
            <a:r>
              <a:rPr b="1" lang="en"/>
              <a:t>actual vs. predicted solar power output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Confusion matrix &amp; accuracy scores for </a:t>
            </a:r>
            <a:r>
              <a:rPr b="1" lang="en"/>
              <a:t>inverter failure detection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Feature importance analysis for </a:t>
            </a:r>
            <a:r>
              <a:rPr b="1" lang="en"/>
              <a:t>Random Forest/XGBoost</a:t>
            </a:r>
            <a:r>
              <a:rPr lang="en"/>
              <a:t>.</a:t>
            </a:r>
            <a:endParaRPr sz="2500"/>
          </a:p>
        </p:txBody>
      </p:sp>
      <p:pic>
        <p:nvPicPr>
          <p:cNvPr id="224" name="Google Shape;224;p33"/>
          <p:cNvPicPr preferRelativeResize="0"/>
          <p:nvPr/>
        </p:nvPicPr>
        <p:blipFill rotWithShape="1">
          <a:blip r:embed="rId3">
            <a:alphaModFix/>
          </a:blip>
          <a:srcRect b="0" l="22932" r="22932" t="0"/>
          <a:stretch/>
        </p:blipFill>
        <p:spPr>
          <a:xfrm>
            <a:off x="4705150" y="361926"/>
            <a:ext cx="2035801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 rotWithShape="1">
          <a:blip r:embed="rId4">
            <a:alphaModFix/>
          </a:blip>
          <a:srcRect b="18033" l="0" r="0" t="18040"/>
          <a:stretch/>
        </p:blipFill>
        <p:spPr>
          <a:xfrm>
            <a:off x="6796425" y="361926"/>
            <a:ext cx="2035801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 rotWithShape="1">
          <a:blip r:embed="rId5">
            <a:alphaModFix/>
          </a:blip>
          <a:srcRect b="553" l="0" r="0" t="563"/>
          <a:stretch/>
        </p:blipFill>
        <p:spPr>
          <a:xfrm>
            <a:off x="4705200" y="2366436"/>
            <a:ext cx="4083354" cy="2475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 &amp; Solutions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1️⃣ System Freezing &amp; Performance Issues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Running multiple applications caused system lag due to an </a:t>
            </a:r>
            <a:r>
              <a:rPr b="1" lang="en" sz="1200"/>
              <a:t>Intel Core i3-9100F with 8GB RAM</a:t>
            </a:r>
            <a:r>
              <a:rPr lang="en" sz="1200"/>
              <a:t>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Optimized memory usage, limited parallel processing, and used </a:t>
            </a:r>
            <a:r>
              <a:rPr b="1" lang="en" sz="1200"/>
              <a:t>batch processing</a:t>
            </a:r>
            <a:r>
              <a:rPr lang="en" sz="1200"/>
              <a:t> for ML tasks.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2️⃣ Real-Time Deployment of AI Models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Ensuring smooth real-time AI inference with </a:t>
            </a:r>
            <a:r>
              <a:rPr b="1" lang="en" sz="1200"/>
              <a:t>Streamlit</a:t>
            </a:r>
            <a:r>
              <a:rPr lang="en" sz="1200"/>
              <a:t> and ML models.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Used </a:t>
            </a:r>
            <a:r>
              <a:rPr b="1" lang="en" sz="1200"/>
              <a:t>optimized model serialization (joblib/Pickle)</a:t>
            </a:r>
            <a:r>
              <a:rPr lang="en" sz="1200"/>
              <a:t> and reduced latency by implementing </a:t>
            </a:r>
            <a:r>
              <a:rPr b="1" lang="en" sz="1200"/>
              <a:t>asynchronous data processing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3️⃣ Accuracy &amp; Model Optimization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Initial </a:t>
            </a:r>
            <a:r>
              <a:rPr b="1" lang="en" sz="1200"/>
              <a:t>LSTM &amp; Random Forest models</a:t>
            </a:r>
            <a:r>
              <a:rPr lang="en" sz="1200"/>
              <a:t> had lower-than-expected accuracy.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Tuned hyperparameters, increased dataset quality, and used </a:t>
            </a:r>
            <a:r>
              <a:rPr b="1" lang="en" sz="1200"/>
              <a:t>CNN/LSTM Hybrid</a:t>
            </a:r>
            <a:r>
              <a:rPr lang="en" sz="1200"/>
              <a:t> for better feature extraction.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4️⃣ Energy Forecasting &amp; Grid Integration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Fluctuations in </a:t>
            </a:r>
            <a:r>
              <a:rPr b="1" lang="en" sz="1200"/>
              <a:t>solar power predictions</a:t>
            </a:r>
            <a:r>
              <a:rPr lang="en" sz="1200"/>
              <a:t> affected optimization.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Implemented </a:t>
            </a:r>
            <a:r>
              <a:rPr b="1" lang="en" sz="1200"/>
              <a:t>rolling window predictions</a:t>
            </a:r>
            <a:r>
              <a:rPr lang="en" sz="1200"/>
              <a:t> and </a:t>
            </a:r>
            <a:r>
              <a:rPr b="1" lang="en" sz="1200"/>
              <a:t>adaptive learning</a:t>
            </a:r>
            <a:r>
              <a:rPr lang="en" sz="1200"/>
              <a:t> to adjust forecasts based on new data.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5️⃣ Visualization &amp; User Interaction Issues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Streamlit dashboard was </a:t>
            </a:r>
            <a:r>
              <a:rPr b="1" lang="en" sz="1200"/>
              <a:t>slow &amp; unresponsive</a:t>
            </a:r>
            <a:r>
              <a:rPr lang="en" sz="1200"/>
              <a:t> with large datasets.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Used </a:t>
            </a:r>
            <a:r>
              <a:rPr b="1" lang="en" sz="1200"/>
              <a:t>caching techniques (st.cache)</a:t>
            </a:r>
            <a:r>
              <a:rPr lang="en" sz="1200"/>
              <a:t> and </a:t>
            </a:r>
            <a:r>
              <a:rPr b="1" lang="en" sz="1200"/>
              <a:t>optimized DataFrame operations</a:t>
            </a:r>
            <a:r>
              <a:rPr lang="en" sz="1200"/>
              <a:t> for better performance.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lang="en" sz="1700"/>
              <a:t>AI-driven solar energy management </a:t>
            </a:r>
            <a:r>
              <a:rPr b="1" lang="en" sz="1700"/>
              <a:t>enhances efficiency, reduces costs, and optimizes power distribution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LSTM &amp; GRU models</a:t>
            </a:r>
            <a:r>
              <a:rPr lang="en" sz="1700"/>
              <a:t> accurately forecast solar power generation, improving grid integration.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Random Forest/XGBoost</a:t>
            </a:r>
            <a:r>
              <a:rPr lang="en" sz="1700"/>
              <a:t> effectively detects </a:t>
            </a:r>
            <a:r>
              <a:rPr b="1" lang="en" sz="1700"/>
              <a:t>inverter failures</a:t>
            </a:r>
            <a:r>
              <a:rPr lang="en" sz="1700"/>
              <a:t>, reducing downtime.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Streamlit-based dashboard</a:t>
            </a:r>
            <a:r>
              <a:rPr lang="en" sz="1700"/>
              <a:t> provides </a:t>
            </a:r>
            <a:r>
              <a:rPr b="1" lang="en" sz="1700"/>
              <a:t>real-time monitoring</a:t>
            </a:r>
            <a:r>
              <a:rPr lang="en" sz="1700"/>
              <a:t> for better decision-making.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🔹 </a:t>
            </a:r>
            <a:r>
              <a:rPr b="1" lang="en" sz="1700"/>
              <a:t>Integration with IoT Sensors</a:t>
            </a:r>
            <a:r>
              <a:rPr lang="en" sz="1700"/>
              <a:t> – Real-time data collection from solar panels for </a:t>
            </a:r>
            <a:r>
              <a:rPr b="1" lang="en" sz="1700"/>
              <a:t>enhanced AI predictions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Hybrid AI Models</a:t>
            </a:r>
            <a:r>
              <a:rPr lang="en" sz="1700"/>
              <a:t> – Combining </a:t>
            </a:r>
            <a:r>
              <a:rPr b="1" lang="en" sz="1700"/>
              <a:t>Reinforcement Learning &amp; Deep Learning</a:t>
            </a:r>
            <a:r>
              <a:rPr lang="en" sz="1700"/>
              <a:t> for better energy optimization.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Scalability &amp; Cloud Deployment</a:t>
            </a:r>
            <a:r>
              <a:rPr lang="en" sz="1700"/>
              <a:t> – Deploying on </a:t>
            </a:r>
            <a:r>
              <a:rPr b="1" lang="en" sz="1700"/>
              <a:t>AWS/GCP for large-scale implementation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Smart Grid Integration</a:t>
            </a:r>
            <a:r>
              <a:rPr lang="en" sz="1700"/>
              <a:t> – AI-driven </a:t>
            </a:r>
            <a:r>
              <a:rPr b="1" lang="en" sz="1700"/>
              <a:t>adaptive energy distribution</a:t>
            </a:r>
            <a:r>
              <a:rPr lang="en" sz="1700"/>
              <a:t> for efficient power management.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Predictive Maintenance</a:t>
            </a:r>
            <a:r>
              <a:rPr lang="en" sz="1700"/>
              <a:t> – Advanced </a:t>
            </a:r>
            <a:r>
              <a:rPr b="1" lang="en" sz="1700"/>
              <a:t>AI models for proactive fault detection &amp; self-healing energy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199575" y="21939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  <p:pic>
        <p:nvPicPr>
          <p:cNvPr id="250" name="Google Shape;250;p37" title="Upward shot of Golden Gate Bridge against blue sky"/>
          <p:cNvPicPr preferRelativeResize="0"/>
          <p:nvPr/>
        </p:nvPicPr>
        <p:blipFill rotWithShape="1">
          <a:blip r:embed="rId3">
            <a:alphaModFix/>
          </a:blip>
          <a:srcRect b="0" l="19071" r="4853" t="9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